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60" r:id="rId3"/>
    <p:sldId id="258" r:id="rId4"/>
    <p:sldId id="259" r:id="rId5"/>
    <p:sldId id="257" r:id="rId6"/>
    <p:sldId id="261" r:id="rId7"/>
    <p:sldId id="270" r:id="rId8"/>
    <p:sldId id="262" r:id="rId9"/>
    <p:sldId id="271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0339" autoAdjust="0"/>
  </p:normalViewPr>
  <p:slideViewPr>
    <p:cSldViewPr snapToGrid="0">
      <p:cViewPr varScale="1">
        <p:scale>
          <a:sx n="68" d="100"/>
          <a:sy n="68" d="100"/>
        </p:scale>
        <p:origin x="176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124CC-A90A-4647-86C2-CFAC21015BAA}" type="datetimeFigureOut">
              <a:rPr lang="tr-TR" smtClean="0"/>
              <a:t>12.12.2025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D9767-E8DB-416A-A8FF-889E77A1D28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7454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vicat.com/en/products/navicat-premium?utm_source=chatgpt.com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navicat.com/en/products/navicat-for-mysql?utm_source=chatgpt.com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Tanım: </a:t>
            </a:r>
            <a:r>
              <a:rPr lang="tr-TR" dirty="0" err="1"/>
              <a:t>PremumSoft</a:t>
            </a:r>
            <a:r>
              <a:rPr lang="tr-TR" dirty="0"/>
              <a:t> </a:t>
            </a:r>
            <a:r>
              <a:rPr lang="tr-TR" dirty="0" err="1"/>
              <a:t>CyberTech</a:t>
            </a:r>
            <a:r>
              <a:rPr lang="tr-TR" dirty="0"/>
              <a:t> Ltd. tarafından geliştirilen, çoklu </a:t>
            </a:r>
            <a:r>
              <a:rPr lang="tr-TR" dirty="0" err="1"/>
              <a:t>veritabanı</a:t>
            </a:r>
            <a:r>
              <a:rPr lang="tr-TR" dirty="0"/>
              <a:t> yönetim ve geliştirme aracıdır. </a:t>
            </a:r>
          </a:p>
          <a:p>
            <a:r>
              <a:rPr lang="tr-TR" dirty="0"/>
              <a:t>Amaç: Kullanıcılara </a:t>
            </a:r>
            <a:r>
              <a:rPr lang="tr-TR" dirty="0" err="1"/>
              <a:t>veritabanı</a:t>
            </a:r>
            <a:r>
              <a:rPr lang="tr-TR" dirty="0"/>
              <a:t> işlemlerin (tasarım, yönetim, geliştirme, bakım) sezgisel bir grafik arayüz (GUI) üzerinden kolaylaştırmak. </a:t>
            </a:r>
          </a:p>
          <a:p>
            <a:r>
              <a:rPr lang="tr-TR" dirty="0" err="1"/>
              <a:t>Navicat’ın</a:t>
            </a:r>
            <a:r>
              <a:rPr lang="tr-TR" dirty="0"/>
              <a:t> </a:t>
            </a:r>
            <a:r>
              <a:rPr lang="tr-TR" b="1" dirty="0"/>
              <a:t>ilk sürümü resmi olarak 2002 yılında</a:t>
            </a:r>
            <a:r>
              <a:rPr lang="tr-TR" dirty="0"/>
              <a:t> yayınlandı. Özellikle </a:t>
            </a:r>
            <a:r>
              <a:rPr lang="tr-TR" b="1" dirty="0"/>
              <a:t>Mart 2002’de Windows için </a:t>
            </a:r>
            <a:r>
              <a:rPr lang="tr-TR" b="1" dirty="0" err="1"/>
              <a:t>Navicat</a:t>
            </a:r>
            <a:r>
              <a:rPr lang="tr-TR" b="1" dirty="0"/>
              <a:t> </a:t>
            </a:r>
            <a:r>
              <a:rPr lang="tr-TR" b="1" dirty="0" err="1"/>
              <a:t>for</a:t>
            </a:r>
            <a:r>
              <a:rPr lang="tr-TR" b="1" dirty="0"/>
              <a:t> MySQL</a:t>
            </a:r>
            <a:r>
              <a:rPr lang="tr-TR" dirty="0"/>
              <a:t> sürümü ilk kez halka sunulduğu kabul edilir</a:t>
            </a:r>
          </a:p>
          <a:p>
            <a:r>
              <a:rPr lang="tr-TR" b="1" dirty="0" err="1"/>
              <a:t>Navicat</a:t>
            </a:r>
            <a:r>
              <a:rPr lang="tr-TR" b="1" dirty="0"/>
              <a:t> Premium</a:t>
            </a:r>
            <a:r>
              <a:rPr lang="tr-TR" dirty="0"/>
              <a:t>, yani </a:t>
            </a:r>
            <a:r>
              <a:rPr lang="tr-TR" dirty="0" err="1"/>
              <a:t>Navicat’in</a:t>
            </a:r>
            <a:r>
              <a:rPr lang="tr-TR" dirty="0"/>
              <a:t> tüm </a:t>
            </a:r>
            <a:r>
              <a:rPr lang="tr-TR" dirty="0" err="1"/>
              <a:t>veritabanı</a:t>
            </a:r>
            <a:r>
              <a:rPr lang="tr-TR" dirty="0"/>
              <a:t> tiplerini tek bir uygulamada birleştiren versiyonu, </a:t>
            </a:r>
            <a:r>
              <a:rPr lang="tr-TR" b="1" dirty="0"/>
              <a:t>ilk olarak 2009 yılında yayınlandı.</a:t>
            </a:r>
          </a:p>
          <a:p>
            <a:endParaRPr lang="tr-TR" b="1" dirty="0"/>
          </a:p>
          <a:p>
            <a:r>
              <a:rPr lang="tr-TR" b="1" dirty="0" err="1"/>
              <a:t>Navicat</a:t>
            </a:r>
            <a:r>
              <a:rPr lang="tr-TR" b="1" dirty="0"/>
              <a:t> Kelime Anlamı (Kökeni)</a:t>
            </a:r>
          </a:p>
          <a:p>
            <a:r>
              <a:rPr lang="tr-TR" b="1" dirty="0" err="1"/>
              <a:t>Navicat</a:t>
            </a:r>
            <a:r>
              <a:rPr lang="tr-TR" b="1" dirty="0"/>
              <a:t> = </a:t>
            </a:r>
            <a:r>
              <a:rPr lang="tr-TR" b="1" dirty="0" err="1"/>
              <a:t>Navigate</a:t>
            </a:r>
            <a:r>
              <a:rPr lang="tr-TR" b="1" dirty="0"/>
              <a:t> + </a:t>
            </a:r>
            <a:r>
              <a:rPr lang="tr-TR" b="1" dirty="0" err="1"/>
              <a:t>Cat</a:t>
            </a:r>
            <a:r>
              <a:rPr lang="tr-TR" b="1" dirty="0"/>
              <a:t> (veya -</a:t>
            </a:r>
            <a:r>
              <a:rPr lang="tr-TR" b="1" dirty="0" err="1"/>
              <a:t>cat</a:t>
            </a:r>
            <a:r>
              <a:rPr lang="tr-TR" b="1" dirty="0"/>
              <a:t> eki)</a:t>
            </a:r>
            <a:r>
              <a:rPr lang="tr-TR" dirty="0"/>
              <a:t> şeklinde yorumlanır.</a:t>
            </a:r>
          </a:p>
          <a:p>
            <a:r>
              <a:rPr lang="tr-TR" b="1" dirty="0"/>
              <a:t>🔹 </a:t>
            </a:r>
            <a:r>
              <a:rPr lang="tr-TR" b="1" dirty="0" err="1"/>
              <a:t>Navigate</a:t>
            </a:r>
            <a:endParaRPr lang="tr-TR" b="1" dirty="0"/>
          </a:p>
          <a:p>
            <a:r>
              <a:rPr lang="tr-TR" dirty="0"/>
              <a:t>İngilizce </a:t>
            </a:r>
            <a:r>
              <a:rPr lang="tr-TR" b="1" dirty="0"/>
              <a:t>“</a:t>
            </a:r>
            <a:r>
              <a:rPr lang="tr-TR" b="1" dirty="0" err="1"/>
              <a:t>navigate</a:t>
            </a:r>
            <a:r>
              <a:rPr lang="tr-TR" b="1" dirty="0"/>
              <a:t>”</a:t>
            </a:r>
            <a:r>
              <a:rPr lang="tr-TR" dirty="0"/>
              <a:t> kelimesi:</a:t>
            </a:r>
          </a:p>
          <a:p>
            <a:r>
              <a:rPr lang="tr-TR" dirty="0"/>
              <a:t>Yol göstermek</a:t>
            </a:r>
          </a:p>
          <a:p>
            <a:r>
              <a:rPr lang="tr-TR" dirty="0"/>
              <a:t>Yönlendirmek</a:t>
            </a:r>
          </a:p>
          <a:p>
            <a:r>
              <a:rPr lang="tr-TR" dirty="0"/>
              <a:t>Bir sistem içinde rahatça gezmek</a:t>
            </a:r>
          </a:p>
          <a:p>
            <a:r>
              <a:rPr lang="tr-TR" dirty="0"/>
              <a:t>anlamlarına gelir.</a:t>
            </a:r>
          </a:p>
          <a:p>
            <a:r>
              <a:rPr lang="tr-TR" b="1" dirty="0"/>
              <a:t>🔹 </a:t>
            </a:r>
            <a:r>
              <a:rPr lang="tr-TR" b="1" dirty="0" err="1"/>
              <a:t>Navicat’ın</a:t>
            </a:r>
            <a:r>
              <a:rPr lang="tr-TR" b="1" dirty="0"/>
              <a:t> Anlam Çağrışımı</a:t>
            </a:r>
          </a:p>
          <a:p>
            <a:r>
              <a:rPr lang="tr-TR" dirty="0"/>
              <a:t>Bu bağlamda </a:t>
            </a:r>
            <a:r>
              <a:rPr lang="tr-TR" b="1" dirty="0" err="1"/>
              <a:t>Navicat</a:t>
            </a:r>
            <a:r>
              <a:rPr lang="tr-TR" dirty="0"/>
              <a:t>:</a:t>
            </a:r>
          </a:p>
          <a:p>
            <a:r>
              <a:rPr lang="tr-TR" b="1" dirty="0"/>
              <a:t>“</a:t>
            </a:r>
            <a:r>
              <a:rPr lang="tr-TR" b="1" dirty="0" err="1"/>
              <a:t>Veritabanları</a:t>
            </a:r>
            <a:r>
              <a:rPr lang="tr-TR" b="1" dirty="0"/>
              <a:t> arasında kolayca gezinebilmeyi ve yönetebilmeyi sağlayan araç”</a:t>
            </a:r>
            <a:br>
              <a:rPr lang="tr-TR" dirty="0"/>
            </a:br>
            <a:r>
              <a:rPr lang="tr-TR" dirty="0"/>
              <a:t>anlamını çağrıştırır.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767-E8DB-416A-A8FF-889E77A1D286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80633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Database CLI ve GUI, aynı </a:t>
            </a:r>
            <a:r>
              <a:rPr lang="tr-TR" dirty="0" err="1"/>
              <a:t>veritabanını</a:t>
            </a:r>
            <a:r>
              <a:rPr lang="tr-TR" dirty="0"/>
              <a:t> yönetmenin iki farklı yoludur; biri komut satırı, diğeri görsel arayüzdür ve ikisi de arka planda SQL kullanır.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b="1" dirty="0"/>
              <a:t>Hangi Senaryoda Hangisi?</a:t>
            </a:r>
          </a:p>
          <a:p>
            <a:r>
              <a:rPr lang="tr-TR" b="1" dirty="0"/>
              <a:t>CLI Kullan</a:t>
            </a:r>
          </a:p>
          <a:p>
            <a:r>
              <a:rPr lang="tr-TR" dirty="0"/>
              <a:t>Sunucuda SSH ile çalışırken</a:t>
            </a:r>
          </a:p>
          <a:p>
            <a:r>
              <a:rPr lang="tr-TR" dirty="0" err="1"/>
              <a:t>Script</a:t>
            </a:r>
            <a:r>
              <a:rPr lang="tr-TR" dirty="0"/>
              <a:t>, </a:t>
            </a:r>
            <a:r>
              <a:rPr lang="tr-TR" dirty="0" err="1"/>
              <a:t>cron</a:t>
            </a:r>
            <a:r>
              <a:rPr lang="tr-TR" dirty="0"/>
              <a:t>, otomasyon yazarken</a:t>
            </a:r>
          </a:p>
          <a:p>
            <a:r>
              <a:rPr lang="tr-TR" dirty="0"/>
              <a:t>CI/CD süreçlerinde</a:t>
            </a:r>
          </a:p>
          <a:p>
            <a:r>
              <a:rPr lang="tr-TR" dirty="0"/>
              <a:t>Performans ve hız önemliyse</a:t>
            </a:r>
          </a:p>
          <a:p>
            <a:r>
              <a:rPr lang="tr-TR" b="1" dirty="0"/>
              <a:t>GUI Kullan</a:t>
            </a:r>
          </a:p>
          <a:p>
            <a:r>
              <a:rPr lang="tr-TR" dirty="0"/>
              <a:t>Tablo ve ilişki tasarlarken</a:t>
            </a:r>
          </a:p>
          <a:p>
            <a:r>
              <a:rPr lang="tr-TR" dirty="0"/>
              <a:t>Eğitim ve ders anlatırken</a:t>
            </a:r>
          </a:p>
          <a:p>
            <a:r>
              <a:rPr lang="tr-TR" dirty="0"/>
              <a:t>Veriyi görsel analiz ederken</a:t>
            </a:r>
          </a:p>
          <a:p>
            <a:r>
              <a:rPr lang="tr-TR" dirty="0"/>
              <a:t>Hızlı </a:t>
            </a:r>
            <a:r>
              <a:rPr lang="tr-TR" dirty="0" err="1"/>
              <a:t>debug</a:t>
            </a:r>
            <a:r>
              <a:rPr lang="tr-TR" dirty="0"/>
              <a:t> ve inceleme yaparken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Gerçek Hayat Bağlantısı (Önemli Anlatım)</a:t>
            </a:r>
          </a:p>
          <a:p>
            <a:r>
              <a:rPr lang="tr-TR" b="1" dirty="0" err="1"/>
              <a:t>Veritabanı</a:t>
            </a:r>
            <a:r>
              <a:rPr lang="tr-TR" b="1" dirty="0"/>
              <a:t> Motoru</a:t>
            </a:r>
            <a:r>
              <a:rPr lang="tr-TR" dirty="0"/>
              <a:t> (MySQL, </a:t>
            </a:r>
            <a:r>
              <a:rPr lang="tr-TR" dirty="0" err="1"/>
              <a:t>PostgreSQL</a:t>
            </a:r>
            <a:r>
              <a:rPr lang="tr-TR" dirty="0"/>
              <a:t>)</a:t>
            </a:r>
            <a:br>
              <a:rPr lang="tr-TR" dirty="0"/>
            </a:br>
            <a:r>
              <a:rPr lang="tr-TR" dirty="0"/>
              <a:t>⬇</a:t>
            </a:r>
            <a:br>
              <a:rPr lang="tr-TR" dirty="0"/>
            </a:br>
            <a:r>
              <a:rPr lang="tr-TR" b="1" dirty="0"/>
              <a:t>CLI veya GUI</a:t>
            </a:r>
            <a:br>
              <a:rPr lang="tr-TR" dirty="0"/>
            </a:br>
            <a:r>
              <a:rPr lang="tr-TR" dirty="0"/>
              <a:t>⬇</a:t>
            </a:r>
            <a:br>
              <a:rPr lang="tr-TR" dirty="0"/>
            </a:br>
            <a:r>
              <a:rPr lang="tr-TR" b="1" dirty="0"/>
              <a:t>SQL Komutları</a:t>
            </a:r>
            <a:br>
              <a:rPr lang="tr-TR" dirty="0"/>
            </a:br>
            <a:r>
              <a:rPr lang="tr-TR" dirty="0"/>
              <a:t>⬇</a:t>
            </a:r>
            <a:br>
              <a:rPr lang="tr-TR" dirty="0"/>
            </a:br>
            <a:r>
              <a:rPr lang="tr-TR" b="1" dirty="0"/>
              <a:t>Veri</a:t>
            </a:r>
            <a:endParaRPr lang="tr-TR" dirty="0"/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767-E8DB-416A-A8FF-889E77A1D286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44003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dirty="0" err="1"/>
              <a:t>Veritabanı</a:t>
            </a:r>
            <a:r>
              <a:rPr lang="tr-TR" dirty="0"/>
              <a:t>, verilerin </a:t>
            </a:r>
            <a:r>
              <a:rPr lang="tr-TR" b="1" dirty="0"/>
              <a:t>düzenli, güvenli ve hızlı erişilebilir</a:t>
            </a:r>
            <a:r>
              <a:rPr lang="tr-TR" dirty="0"/>
              <a:t> şekilde saklandığı yapılardır. Yazılımlarda kullanıcılar, ürünler, siparişler, mesajlar gibi tüm bilgiler </a:t>
            </a:r>
            <a:r>
              <a:rPr lang="tr-TR" dirty="0" err="1"/>
              <a:t>veritabanlarında</a:t>
            </a:r>
            <a:r>
              <a:rPr lang="tr-TR" dirty="0"/>
              <a:t> tutulur. </a:t>
            </a:r>
            <a:r>
              <a:rPr lang="tr-TR" dirty="0" err="1"/>
              <a:t>Veritabanı</a:t>
            </a:r>
            <a:r>
              <a:rPr lang="tr-TR" dirty="0"/>
              <a:t> sistemleri; </a:t>
            </a:r>
            <a:r>
              <a:rPr lang="tr-TR" b="1" dirty="0"/>
              <a:t>veri ekleme, silme, güncelleme, sorgulama</a:t>
            </a:r>
            <a:r>
              <a:rPr lang="tr-TR" dirty="0"/>
              <a:t> gibi işlemleri yönetir.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 err="1"/>
              <a:t>Veritabanı</a:t>
            </a:r>
            <a:r>
              <a:rPr lang="tr-TR" b="1" dirty="0"/>
              <a:t> Türleri</a:t>
            </a:r>
          </a:p>
          <a:p>
            <a:r>
              <a:rPr lang="tr-TR" dirty="0" err="1"/>
              <a:t>Veritabanları</a:t>
            </a:r>
            <a:r>
              <a:rPr lang="tr-TR" dirty="0"/>
              <a:t>, </a:t>
            </a:r>
            <a:r>
              <a:rPr lang="tr-TR" b="1" dirty="0"/>
              <a:t>veri yapısına ve kullanım amacına göre</a:t>
            </a:r>
            <a:r>
              <a:rPr lang="tr-TR" dirty="0"/>
              <a:t> sınıflandırılır. Güncel yazılım dünyasında en yaygın türler aşağıdadır.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1️⃣ İlişkisel </a:t>
            </a:r>
            <a:r>
              <a:rPr lang="tr-TR" b="1" dirty="0" err="1"/>
              <a:t>Veritabanları</a:t>
            </a:r>
            <a:r>
              <a:rPr lang="tr-TR" b="1" dirty="0"/>
              <a:t> (</a:t>
            </a:r>
            <a:r>
              <a:rPr lang="tr-TR" b="1" dirty="0" err="1"/>
              <a:t>Relational</a:t>
            </a:r>
            <a:r>
              <a:rPr lang="tr-TR" b="1" dirty="0"/>
              <a:t> Database – RDBMS)</a:t>
            </a:r>
          </a:p>
          <a:p>
            <a:r>
              <a:rPr lang="tr-TR" dirty="0"/>
              <a:t>Veriler </a:t>
            </a:r>
            <a:r>
              <a:rPr lang="tr-TR" b="1" dirty="0"/>
              <a:t>tablo (satır–sütun)</a:t>
            </a:r>
            <a:r>
              <a:rPr lang="tr-TR" dirty="0"/>
              <a:t> mantığıyla tutulur.</a:t>
            </a:r>
            <a:br>
              <a:rPr lang="tr-TR" dirty="0"/>
            </a:br>
            <a:r>
              <a:rPr lang="tr-TR" dirty="0"/>
              <a:t>Tablolar arasında </a:t>
            </a:r>
            <a:r>
              <a:rPr lang="tr-TR" b="1" dirty="0" err="1"/>
              <a:t>Primary</a:t>
            </a:r>
            <a:r>
              <a:rPr lang="tr-TR" b="1" dirty="0"/>
              <a:t> </a:t>
            </a:r>
            <a:r>
              <a:rPr lang="tr-TR" b="1" dirty="0" err="1"/>
              <a:t>Key</a:t>
            </a:r>
            <a:r>
              <a:rPr lang="tr-TR" b="1" dirty="0"/>
              <a:t> – </a:t>
            </a:r>
            <a:r>
              <a:rPr lang="tr-TR" b="1" dirty="0" err="1"/>
              <a:t>Foreign</a:t>
            </a:r>
            <a:r>
              <a:rPr lang="tr-TR" b="1" dirty="0"/>
              <a:t> </a:t>
            </a:r>
            <a:r>
              <a:rPr lang="tr-TR" b="1" dirty="0" err="1"/>
              <a:t>Key</a:t>
            </a:r>
            <a:r>
              <a:rPr lang="tr-TR" dirty="0"/>
              <a:t> ilişkileri vardır.</a:t>
            </a:r>
            <a:br>
              <a:rPr lang="tr-TR" dirty="0"/>
            </a:br>
            <a:r>
              <a:rPr lang="tr-TR" b="1" dirty="0"/>
              <a:t>SQL (</a:t>
            </a:r>
            <a:r>
              <a:rPr lang="tr-TR" b="1" dirty="0" err="1"/>
              <a:t>Structured</a:t>
            </a:r>
            <a:r>
              <a:rPr lang="tr-TR" b="1" dirty="0"/>
              <a:t> Query Language)</a:t>
            </a:r>
            <a:r>
              <a:rPr lang="tr-TR" dirty="0"/>
              <a:t> kullanılır.</a:t>
            </a:r>
          </a:p>
          <a:p>
            <a:r>
              <a:rPr lang="tr-TR" b="1" dirty="0"/>
              <a:t>Özellikleri</a:t>
            </a:r>
          </a:p>
          <a:p>
            <a:r>
              <a:rPr lang="tr-TR" dirty="0"/>
              <a:t>Güçlü veri bütünlüğü (ACID)</a:t>
            </a:r>
          </a:p>
          <a:p>
            <a:r>
              <a:rPr lang="tr-TR" dirty="0"/>
              <a:t>İlişkisel yapı</a:t>
            </a:r>
          </a:p>
          <a:p>
            <a:r>
              <a:rPr lang="tr-TR" dirty="0"/>
              <a:t>Karmaşık sorgular için ideal</a:t>
            </a:r>
          </a:p>
          <a:p>
            <a:r>
              <a:rPr lang="tr-TR" dirty="0"/>
              <a:t>Kurumsal projelerde yaygın</a:t>
            </a:r>
          </a:p>
          <a:p>
            <a:r>
              <a:rPr lang="tr-TR" b="1" dirty="0"/>
              <a:t>Örnekler</a:t>
            </a:r>
          </a:p>
          <a:p>
            <a:r>
              <a:rPr lang="tr-TR" b="1" dirty="0"/>
              <a:t>MySQL / </a:t>
            </a:r>
            <a:r>
              <a:rPr lang="tr-TR" b="1" dirty="0" err="1"/>
              <a:t>MariaDB</a:t>
            </a:r>
            <a:endParaRPr lang="tr-TR" dirty="0"/>
          </a:p>
          <a:p>
            <a:r>
              <a:rPr lang="tr-TR" b="1" dirty="0" err="1"/>
              <a:t>PostgreSQL</a:t>
            </a:r>
            <a:endParaRPr lang="tr-TR" dirty="0"/>
          </a:p>
          <a:p>
            <a:r>
              <a:rPr lang="tr-TR" b="1" dirty="0"/>
              <a:t>Oracle Database</a:t>
            </a:r>
            <a:endParaRPr lang="tr-TR" dirty="0"/>
          </a:p>
          <a:p>
            <a:r>
              <a:rPr lang="tr-TR" b="1" dirty="0"/>
              <a:t>Microsoft SQL Server</a:t>
            </a:r>
            <a:endParaRPr lang="tr-TR" dirty="0"/>
          </a:p>
          <a:p>
            <a:r>
              <a:rPr lang="tr-TR" b="1" dirty="0"/>
              <a:t>Kullanım Alanları</a:t>
            </a:r>
          </a:p>
          <a:p>
            <a:r>
              <a:rPr lang="tr-TR" dirty="0"/>
              <a:t>Web uygulamaları</a:t>
            </a:r>
          </a:p>
          <a:p>
            <a:r>
              <a:rPr lang="tr-TR" dirty="0"/>
              <a:t>ERP, CRM sistemleri</a:t>
            </a:r>
          </a:p>
          <a:p>
            <a:r>
              <a:rPr lang="tr-TR" dirty="0"/>
              <a:t>Bankacılık ve muhasebe yazılımları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2️⃣ </a:t>
            </a:r>
            <a:r>
              <a:rPr lang="tr-TR" b="1" dirty="0" err="1"/>
              <a:t>NoSQL</a:t>
            </a:r>
            <a:r>
              <a:rPr lang="tr-TR" b="1" dirty="0"/>
              <a:t> </a:t>
            </a:r>
            <a:r>
              <a:rPr lang="tr-TR" b="1" dirty="0" err="1"/>
              <a:t>Veritabanları</a:t>
            </a:r>
            <a:endParaRPr lang="tr-TR" b="1" dirty="0"/>
          </a:p>
          <a:p>
            <a:r>
              <a:rPr lang="tr-TR" b="1" dirty="0"/>
              <a:t>Tablo zorunluluğu yoktur</a:t>
            </a:r>
            <a:r>
              <a:rPr lang="tr-TR" dirty="0"/>
              <a:t>, esnek veri yapısı sunar.</a:t>
            </a:r>
            <a:br>
              <a:rPr lang="tr-TR" dirty="0"/>
            </a:br>
            <a:r>
              <a:rPr lang="tr-TR" dirty="0"/>
              <a:t>Büyük veri ve yüksek trafikli sistemler için geliştirilmiştir.</a:t>
            </a:r>
          </a:p>
          <a:p>
            <a:r>
              <a:rPr lang="tr-TR" b="1" dirty="0"/>
              <a:t>Alt Türleri</a:t>
            </a:r>
          </a:p>
          <a:p>
            <a:r>
              <a:rPr lang="tr-TR" b="1" dirty="0"/>
              <a:t>🔹 a) Doküman Tabanlı</a:t>
            </a:r>
          </a:p>
          <a:p>
            <a:r>
              <a:rPr lang="tr-TR" dirty="0"/>
              <a:t>Veriler </a:t>
            </a:r>
            <a:r>
              <a:rPr lang="tr-TR" b="1" dirty="0"/>
              <a:t>JSON / BSON</a:t>
            </a:r>
            <a:r>
              <a:rPr lang="tr-TR" dirty="0"/>
              <a:t> formatında tutulur.</a:t>
            </a:r>
          </a:p>
          <a:p>
            <a:r>
              <a:rPr lang="tr-TR" b="1" dirty="0" err="1"/>
              <a:t>MongoDB</a:t>
            </a:r>
            <a:endParaRPr lang="tr-TR" dirty="0"/>
          </a:p>
          <a:p>
            <a:r>
              <a:rPr lang="tr-TR" dirty="0" err="1"/>
              <a:t>CouchDB</a:t>
            </a:r>
            <a:endParaRPr lang="tr-TR" dirty="0"/>
          </a:p>
          <a:p>
            <a:r>
              <a:rPr lang="tr-TR" b="1" dirty="0"/>
              <a:t>Kullanım:</a:t>
            </a:r>
            <a:r>
              <a:rPr lang="tr-TR" dirty="0"/>
              <a:t> </a:t>
            </a:r>
            <a:r>
              <a:rPr lang="tr-TR" dirty="0" err="1"/>
              <a:t>API’ler</a:t>
            </a:r>
            <a:r>
              <a:rPr lang="tr-TR" dirty="0"/>
              <a:t>, modern web uygulamaları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🔹 b) Anahtar–Değer (</a:t>
            </a:r>
            <a:r>
              <a:rPr lang="tr-TR" b="1" dirty="0" err="1"/>
              <a:t>Key</a:t>
            </a:r>
            <a:r>
              <a:rPr lang="tr-TR" b="1" dirty="0"/>
              <a:t>–Value)</a:t>
            </a:r>
          </a:p>
          <a:p>
            <a:r>
              <a:rPr lang="tr-TR" dirty="0"/>
              <a:t>Çok hızlıdır, basit veri yapısı vardır.</a:t>
            </a:r>
          </a:p>
          <a:p>
            <a:r>
              <a:rPr lang="tr-TR" b="1" dirty="0" err="1"/>
              <a:t>Redis</a:t>
            </a:r>
            <a:endParaRPr lang="tr-TR" dirty="0"/>
          </a:p>
          <a:p>
            <a:r>
              <a:rPr lang="tr-TR" dirty="0" err="1"/>
              <a:t>Memcached</a:t>
            </a:r>
            <a:endParaRPr lang="tr-TR" dirty="0"/>
          </a:p>
          <a:p>
            <a:r>
              <a:rPr lang="tr-TR" b="1" dirty="0"/>
              <a:t>Kullanım:</a:t>
            </a:r>
            <a:r>
              <a:rPr lang="tr-TR" dirty="0"/>
              <a:t> </a:t>
            </a:r>
            <a:r>
              <a:rPr lang="tr-TR" dirty="0" err="1"/>
              <a:t>Cache</a:t>
            </a:r>
            <a:r>
              <a:rPr lang="tr-TR" dirty="0"/>
              <a:t>, </a:t>
            </a:r>
            <a:r>
              <a:rPr lang="tr-TR" dirty="0" err="1"/>
              <a:t>session</a:t>
            </a:r>
            <a:r>
              <a:rPr lang="tr-TR" dirty="0"/>
              <a:t>, anlık veriler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🔹 c) Kolon Tabanlı</a:t>
            </a:r>
          </a:p>
          <a:p>
            <a:r>
              <a:rPr lang="tr-TR" dirty="0"/>
              <a:t>Büyük veri analizine uygundur.</a:t>
            </a:r>
          </a:p>
          <a:p>
            <a:r>
              <a:rPr lang="tr-TR" dirty="0" err="1"/>
              <a:t>Cassandra</a:t>
            </a:r>
            <a:endParaRPr lang="tr-TR" dirty="0"/>
          </a:p>
          <a:p>
            <a:r>
              <a:rPr lang="tr-TR" dirty="0" err="1"/>
              <a:t>HBase</a:t>
            </a:r>
            <a:endParaRPr lang="tr-TR" dirty="0"/>
          </a:p>
          <a:p>
            <a:r>
              <a:rPr lang="tr-TR" b="1" dirty="0"/>
              <a:t>Kullanım:</a:t>
            </a:r>
            <a:r>
              <a:rPr lang="tr-TR" dirty="0"/>
              <a:t> </a:t>
            </a:r>
            <a:r>
              <a:rPr lang="tr-TR" dirty="0" err="1"/>
              <a:t>Big</a:t>
            </a:r>
            <a:r>
              <a:rPr lang="tr-TR" dirty="0"/>
              <a:t> Data, log sistemleri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🔹 d) Grafik </a:t>
            </a:r>
            <a:r>
              <a:rPr lang="tr-TR" b="1" dirty="0" err="1"/>
              <a:t>Veritabanları</a:t>
            </a:r>
            <a:endParaRPr lang="tr-TR" b="1" dirty="0"/>
          </a:p>
          <a:p>
            <a:r>
              <a:rPr lang="tr-TR" dirty="0"/>
              <a:t>İlişkiler </a:t>
            </a:r>
            <a:r>
              <a:rPr lang="tr-TR" b="1" dirty="0" err="1"/>
              <a:t>node</a:t>
            </a:r>
            <a:r>
              <a:rPr lang="tr-TR" b="1" dirty="0"/>
              <a:t>–</a:t>
            </a:r>
            <a:r>
              <a:rPr lang="tr-TR" b="1" dirty="0" err="1"/>
              <a:t>edge</a:t>
            </a:r>
            <a:r>
              <a:rPr lang="tr-TR" dirty="0"/>
              <a:t> mantığıyla tutulur.</a:t>
            </a:r>
          </a:p>
          <a:p>
            <a:r>
              <a:rPr lang="tr-TR" dirty="0"/>
              <a:t>Neo4j</a:t>
            </a:r>
          </a:p>
          <a:p>
            <a:r>
              <a:rPr lang="tr-TR" b="1" dirty="0"/>
              <a:t>Kullanım:</a:t>
            </a:r>
            <a:r>
              <a:rPr lang="tr-TR" dirty="0"/>
              <a:t> Sosyal ağlar, öneri sistemleri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3️⃣ Hiyerarşik </a:t>
            </a:r>
            <a:r>
              <a:rPr lang="tr-TR" b="1" dirty="0" err="1"/>
              <a:t>Veritabanları</a:t>
            </a:r>
            <a:endParaRPr lang="tr-TR" b="1" dirty="0"/>
          </a:p>
          <a:p>
            <a:r>
              <a:rPr lang="tr-TR" dirty="0"/>
              <a:t>Veriler </a:t>
            </a:r>
            <a:r>
              <a:rPr lang="tr-TR" b="1" dirty="0"/>
              <a:t>ağaç yapısı</a:t>
            </a:r>
            <a:r>
              <a:rPr lang="tr-TR" dirty="0"/>
              <a:t> şeklinde tutulur (</a:t>
            </a:r>
            <a:r>
              <a:rPr lang="tr-TR" dirty="0" err="1"/>
              <a:t>parent</a:t>
            </a:r>
            <a:r>
              <a:rPr lang="tr-TR" dirty="0"/>
              <a:t>–</a:t>
            </a:r>
            <a:r>
              <a:rPr lang="tr-TR" dirty="0" err="1"/>
              <a:t>child</a:t>
            </a:r>
            <a:r>
              <a:rPr lang="tr-TR" dirty="0"/>
              <a:t>).</a:t>
            </a:r>
          </a:p>
          <a:p>
            <a:r>
              <a:rPr lang="tr-TR" b="1" dirty="0"/>
              <a:t>Özellikleri</a:t>
            </a:r>
          </a:p>
          <a:p>
            <a:r>
              <a:rPr lang="tr-TR" dirty="0"/>
              <a:t>Eski bir yapıdır</a:t>
            </a:r>
          </a:p>
          <a:p>
            <a:r>
              <a:rPr lang="tr-TR" dirty="0"/>
              <a:t>Günümüzde nadiren kullanılır</a:t>
            </a:r>
          </a:p>
          <a:p>
            <a:r>
              <a:rPr lang="tr-TR" b="1" dirty="0"/>
              <a:t>Örnek:</a:t>
            </a:r>
            <a:r>
              <a:rPr lang="tr-TR" dirty="0"/>
              <a:t> IBM IMS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4️⃣ Ağ (Network) </a:t>
            </a:r>
            <a:r>
              <a:rPr lang="tr-TR" b="1" dirty="0" err="1"/>
              <a:t>Veritabanları</a:t>
            </a:r>
            <a:endParaRPr lang="tr-TR" b="1" dirty="0"/>
          </a:p>
          <a:p>
            <a:r>
              <a:rPr lang="tr-TR" dirty="0"/>
              <a:t>Hiyerarşik yapının gelişmiş hâlidir.</a:t>
            </a:r>
            <a:br>
              <a:rPr lang="tr-TR" dirty="0"/>
            </a:br>
            <a:r>
              <a:rPr lang="tr-TR" dirty="0"/>
              <a:t>Bir kaydın birden fazla ebeveyni olabilir.</a:t>
            </a:r>
          </a:p>
          <a:p>
            <a:r>
              <a:rPr lang="tr-TR" dirty="0"/>
              <a:t>Karmaşık yapılı sistemler</a:t>
            </a:r>
          </a:p>
          <a:p>
            <a:r>
              <a:rPr lang="tr-TR" dirty="0"/>
              <a:t>Günümüzde pek tercih edilmez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5️⃣ Nesne Tabanlı </a:t>
            </a:r>
            <a:r>
              <a:rPr lang="tr-TR" b="1" dirty="0" err="1"/>
              <a:t>Veritabanları</a:t>
            </a:r>
            <a:r>
              <a:rPr lang="tr-TR" b="1" dirty="0"/>
              <a:t> (OODBMS)</a:t>
            </a:r>
          </a:p>
          <a:p>
            <a:r>
              <a:rPr lang="tr-TR" dirty="0"/>
              <a:t>Veriler </a:t>
            </a:r>
            <a:r>
              <a:rPr lang="tr-TR" b="1" dirty="0"/>
              <a:t>nesne (</a:t>
            </a:r>
            <a:r>
              <a:rPr lang="tr-TR" b="1" dirty="0" err="1"/>
              <a:t>object</a:t>
            </a:r>
            <a:r>
              <a:rPr lang="tr-TR" b="1" dirty="0"/>
              <a:t>)</a:t>
            </a:r>
            <a:r>
              <a:rPr lang="tr-TR" dirty="0"/>
              <a:t> olarak saklanır.</a:t>
            </a:r>
            <a:br>
              <a:rPr lang="tr-TR" dirty="0"/>
            </a:br>
            <a:r>
              <a:rPr lang="tr-TR" dirty="0"/>
              <a:t>OOP mantığıyla çalışır.</a:t>
            </a:r>
          </a:p>
          <a:p>
            <a:r>
              <a:rPr lang="tr-TR" b="1" dirty="0"/>
              <a:t>Örnekler</a:t>
            </a:r>
          </a:p>
          <a:p>
            <a:r>
              <a:rPr lang="tr-TR" dirty="0"/>
              <a:t>db4o</a:t>
            </a:r>
          </a:p>
          <a:p>
            <a:r>
              <a:rPr lang="tr-TR" dirty="0" err="1"/>
              <a:t>ObjectDB</a:t>
            </a:r>
            <a:endParaRPr lang="tr-TR" dirty="0"/>
          </a:p>
          <a:p>
            <a:r>
              <a:rPr lang="tr-TR" b="1" dirty="0"/>
              <a:t>Kullanım:</a:t>
            </a:r>
            <a:r>
              <a:rPr lang="tr-TR" dirty="0"/>
              <a:t> Özel akademik ve mühendislik projeleri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6️⃣ Bulut (Cloud) </a:t>
            </a:r>
            <a:r>
              <a:rPr lang="tr-TR" b="1" dirty="0" err="1"/>
              <a:t>Veritabanları</a:t>
            </a:r>
            <a:endParaRPr lang="tr-TR" b="1" dirty="0"/>
          </a:p>
          <a:p>
            <a:r>
              <a:rPr lang="tr-TR" dirty="0"/>
              <a:t>Bulut altyapısında çalışan, yönetimi kolay sistemlerdir.</a:t>
            </a:r>
          </a:p>
          <a:p>
            <a:r>
              <a:rPr lang="tr-TR" b="1" dirty="0"/>
              <a:t>Örnekler</a:t>
            </a:r>
          </a:p>
          <a:p>
            <a:r>
              <a:rPr lang="tr-TR" dirty="0"/>
              <a:t>Amazon RDS</a:t>
            </a:r>
          </a:p>
          <a:p>
            <a:r>
              <a:rPr lang="tr-TR" dirty="0"/>
              <a:t>Google </a:t>
            </a:r>
            <a:r>
              <a:rPr lang="tr-TR" dirty="0" err="1"/>
              <a:t>Firestore</a:t>
            </a:r>
            <a:endParaRPr lang="tr-TR" dirty="0"/>
          </a:p>
          <a:p>
            <a:r>
              <a:rPr lang="tr-TR" dirty="0"/>
              <a:t>Azure SQL Database</a:t>
            </a:r>
          </a:p>
          <a:p>
            <a:r>
              <a:rPr lang="tr-TR" b="1" dirty="0"/>
              <a:t>Avantaj:</a:t>
            </a:r>
            <a:r>
              <a:rPr lang="tr-TR" dirty="0"/>
              <a:t> Ölçeklenebilirlik, bakım kolaylığı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Kısa Karşılaştırma Tablosu</a:t>
            </a:r>
          </a:p>
          <a:p>
            <a:r>
              <a:rPr lang="tr-TR" dirty="0" err="1"/>
              <a:t>TürYapıAvantajDezavantajİlişkiselTabloGüçlü</a:t>
            </a:r>
            <a:r>
              <a:rPr lang="tr-TR" dirty="0"/>
              <a:t> veri </a:t>
            </a:r>
            <a:r>
              <a:rPr lang="tr-TR" dirty="0" err="1"/>
              <a:t>bütünlüğüÖlçekleme</a:t>
            </a:r>
            <a:r>
              <a:rPr lang="tr-TR" dirty="0"/>
              <a:t> </a:t>
            </a:r>
            <a:r>
              <a:rPr lang="tr-TR" dirty="0" err="1"/>
              <a:t>zorNoSQLEsnekYüksek</a:t>
            </a:r>
            <a:r>
              <a:rPr lang="tr-TR" dirty="0"/>
              <a:t> </a:t>
            </a:r>
            <a:r>
              <a:rPr lang="tr-TR" dirty="0" err="1"/>
              <a:t>performansİlişki</a:t>
            </a:r>
            <a:r>
              <a:rPr lang="tr-TR" dirty="0"/>
              <a:t> </a:t>
            </a:r>
            <a:r>
              <a:rPr lang="tr-TR" dirty="0" err="1"/>
              <a:t>zayıfKey-ValueBasitÇok</a:t>
            </a:r>
            <a:r>
              <a:rPr lang="tr-TR" dirty="0"/>
              <a:t> </a:t>
            </a:r>
            <a:r>
              <a:rPr lang="tr-TR" dirty="0" err="1"/>
              <a:t>hızlıKarmaşık</a:t>
            </a:r>
            <a:r>
              <a:rPr lang="tr-TR" dirty="0"/>
              <a:t> sorgu </a:t>
            </a:r>
            <a:r>
              <a:rPr lang="tr-TR" dirty="0" err="1"/>
              <a:t>yokGrafikİlişki</a:t>
            </a:r>
            <a:r>
              <a:rPr lang="tr-TR" dirty="0"/>
              <a:t> </a:t>
            </a:r>
            <a:r>
              <a:rPr lang="tr-TR" dirty="0" err="1"/>
              <a:t>odaklıBağlantı</a:t>
            </a:r>
            <a:r>
              <a:rPr lang="tr-TR" dirty="0"/>
              <a:t> </a:t>
            </a:r>
            <a:r>
              <a:rPr lang="tr-TR" dirty="0" err="1"/>
              <a:t>analizleriÖğrenme</a:t>
            </a:r>
            <a:r>
              <a:rPr lang="tr-TR" dirty="0"/>
              <a:t> </a:t>
            </a:r>
            <a:r>
              <a:rPr lang="tr-TR" dirty="0" err="1"/>
              <a:t>eğrisiBulutDağıtıkKolay</a:t>
            </a:r>
            <a:r>
              <a:rPr lang="tr-TR" dirty="0"/>
              <a:t> </a:t>
            </a:r>
            <a:r>
              <a:rPr lang="tr-TR" dirty="0" err="1"/>
              <a:t>yönetimMaliyet</a:t>
            </a:r>
            <a:endParaRPr lang="tr-TR" dirty="0"/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Yazılım Geliştirici Olarak Pratik Öneri</a:t>
            </a:r>
          </a:p>
          <a:p>
            <a:r>
              <a:rPr lang="tr-TR" b="1" dirty="0"/>
              <a:t>PHP + PDO + MySQL</a:t>
            </a:r>
            <a:r>
              <a:rPr lang="tr-TR" dirty="0"/>
              <a:t> → İlişkisel DB ile başla</a:t>
            </a:r>
          </a:p>
          <a:p>
            <a:r>
              <a:rPr lang="tr-TR" b="1" dirty="0" err="1"/>
              <a:t>Redis</a:t>
            </a:r>
            <a:r>
              <a:rPr lang="tr-TR" dirty="0"/>
              <a:t> → </a:t>
            </a:r>
            <a:r>
              <a:rPr lang="tr-TR" dirty="0" err="1"/>
              <a:t>Cache</a:t>
            </a:r>
            <a:r>
              <a:rPr lang="tr-TR" dirty="0"/>
              <a:t> &amp; </a:t>
            </a:r>
            <a:r>
              <a:rPr lang="tr-TR" dirty="0" err="1"/>
              <a:t>session</a:t>
            </a:r>
            <a:endParaRPr lang="tr-TR" dirty="0"/>
          </a:p>
          <a:p>
            <a:r>
              <a:rPr lang="tr-TR" b="1" dirty="0" err="1"/>
              <a:t>MongoDB</a:t>
            </a:r>
            <a:r>
              <a:rPr lang="tr-TR" dirty="0"/>
              <a:t> → API ve esnek veri</a:t>
            </a:r>
          </a:p>
          <a:p>
            <a:r>
              <a:rPr lang="tr-TR" b="1" dirty="0" err="1"/>
              <a:t>PostgreSQL</a:t>
            </a:r>
            <a:r>
              <a:rPr lang="tr-TR" dirty="0"/>
              <a:t> → Büyük ve kurumsal projeler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767-E8DB-416A-A8FF-889E77A1D286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3521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dirty="0"/>
              <a:t>CLI (</a:t>
            </a:r>
            <a:r>
              <a:rPr lang="tr-TR" b="1" dirty="0" err="1"/>
              <a:t>Command</a:t>
            </a:r>
            <a:r>
              <a:rPr lang="tr-TR" b="1" dirty="0"/>
              <a:t> </a:t>
            </a:r>
            <a:r>
              <a:rPr lang="tr-TR" b="1" dirty="0" err="1"/>
              <a:t>Line</a:t>
            </a:r>
            <a:r>
              <a:rPr lang="tr-TR" b="1" dirty="0"/>
              <a:t> </a:t>
            </a:r>
            <a:r>
              <a:rPr lang="tr-TR" b="1" dirty="0" err="1"/>
              <a:t>Interface</a:t>
            </a:r>
            <a:r>
              <a:rPr lang="tr-TR" b="1" dirty="0"/>
              <a:t>) – Komut Satırı Arayüzü</a:t>
            </a:r>
          </a:p>
          <a:p>
            <a:r>
              <a:rPr lang="tr-TR" dirty="0"/>
              <a:t>CLI, kullanıcı ile sistem arasındaki etkileşimin </a:t>
            </a:r>
            <a:r>
              <a:rPr lang="tr-TR" b="1" dirty="0"/>
              <a:t>yazılı komutlar</a:t>
            </a:r>
            <a:r>
              <a:rPr lang="tr-TR" dirty="0"/>
              <a:t> üzerinden yapıldığı arayüzdür. Klavyeden girilen komutlar doğrudan işletim sistemine ya da ilgili programa iletilir.</a:t>
            </a:r>
          </a:p>
          <a:p>
            <a:r>
              <a:rPr lang="tr-TR" b="1" dirty="0"/>
              <a:t>Örnekler</a:t>
            </a:r>
            <a:endParaRPr lang="tr-TR" dirty="0"/>
          </a:p>
          <a:p>
            <a:r>
              <a:rPr lang="tr-TR" dirty="0"/>
              <a:t>Linux / </a:t>
            </a:r>
            <a:r>
              <a:rPr lang="tr-TR" dirty="0" err="1"/>
              <a:t>macOS</a:t>
            </a:r>
            <a:r>
              <a:rPr lang="tr-TR" dirty="0"/>
              <a:t>: 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bash</a:t>
            </a:r>
            <a:r>
              <a:rPr lang="tr-TR" dirty="0"/>
              <a:t>, 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zsh</a:t>
            </a:r>
            <a:endParaRPr lang="tr-TR" dirty="0"/>
          </a:p>
          <a:p>
            <a:r>
              <a:rPr lang="tr-TR" dirty="0"/>
              <a:t>Windows: </a:t>
            </a:r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CMD</a:t>
            </a:r>
            <a:r>
              <a:rPr lang="tr-TR" dirty="0"/>
              <a:t>, 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PowerShell</a:t>
            </a:r>
            <a:endParaRPr lang="tr-TR" dirty="0"/>
          </a:p>
          <a:p>
            <a:r>
              <a:rPr lang="tr-TR" dirty="0" err="1"/>
              <a:t>Veritabanı</a:t>
            </a:r>
            <a:r>
              <a:rPr lang="tr-TR" dirty="0"/>
              <a:t>: 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mysql</a:t>
            </a:r>
            <a:r>
              <a:rPr lang="tr-TR" dirty="0"/>
              <a:t>, 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psql</a:t>
            </a:r>
            <a:endParaRPr lang="tr-TR" dirty="0"/>
          </a:p>
          <a:p>
            <a:r>
              <a:rPr lang="tr-TR" dirty="0"/>
              <a:t>Geliştirme: </a:t>
            </a:r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</a:t>
            </a:r>
            <a:r>
              <a:rPr lang="tr-TR" dirty="0"/>
              <a:t>, 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tr-TR" dirty="0"/>
              <a:t>, 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composer</a:t>
            </a:r>
            <a:r>
              <a:rPr lang="tr-TR" dirty="0"/>
              <a:t>, 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docker</a:t>
            </a:r>
            <a:endParaRPr lang="tr-TR" dirty="0"/>
          </a:p>
          <a:p>
            <a:r>
              <a:rPr lang="tr-TR" b="1" dirty="0"/>
              <a:t>Temel Özellikler</a:t>
            </a:r>
            <a:endParaRPr lang="tr-TR" dirty="0"/>
          </a:p>
          <a:p>
            <a:r>
              <a:rPr lang="tr-TR" dirty="0"/>
              <a:t>Hızlı ve kaynak tüketimi düşüktür</a:t>
            </a:r>
          </a:p>
          <a:p>
            <a:r>
              <a:rPr lang="tr-TR" dirty="0"/>
              <a:t>Otomasyon (</a:t>
            </a:r>
            <a:r>
              <a:rPr lang="tr-TR" dirty="0" err="1"/>
              <a:t>script</a:t>
            </a:r>
            <a:r>
              <a:rPr lang="tr-TR" dirty="0"/>
              <a:t>) için idealdir</a:t>
            </a:r>
          </a:p>
          <a:p>
            <a:r>
              <a:rPr lang="tr-TR" dirty="0"/>
              <a:t>Uzaktan yönetimde (SSH) vazgeçilmezdir</a:t>
            </a:r>
          </a:p>
          <a:p>
            <a:r>
              <a:rPr lang="tr-TR" dirty="0"/>
              <a:t>Öğrenme eğrisi vardır (komut ezberi gerekir)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GUI (</a:t>
            </a:r>
            <a:r>
              <a:rPr lang="tr-TR" b="1" dirty="0" err="1"/>
              <a:t>Graphical</a:t>
            </a:r>
            <a:r>
              <a:rPr lang="tr-TR" b="1" dirty="0"/>
              <a:t> User </a:t>
            </a:r>
            <a:r>
              <a:rPr lang="tr-TR" b="1" dirty="0" err="1"/>
              <a:t>Interface</a:t>
            </a:r>
            <a:r>
              <a:rPr lang="tr-TR" b="1" dirty="0"/>
              <a:t>) – Grafiksel Arayüz</a:t>
            </a:r>
          </a:p>
          <a:p>
            <a:r>
              <a:rPr lang="tr-TR" dirty="0"/>
              <a:t>GUI, kullanıcıya </a:t>
            </a:r>
            <a:r>
              <a:rPr lang="tr-TR" b="1" dirty="0"/>
              <a:t>butonlar, pencereler, menüler, ikonlar</a:t>
            </a:r>
            <a:r>
              <a:rPr lang="tr-TR" dirty="0"/>
              <a:t> gibi görsel öğeler sunar. Fare ve klavye ile etkileşim sağlanır.</a:t>
            </a:r>
          </a:p>
          <a:p>
            <a:r>
              <a:rPr lang="tr-TR" b="1" dirty="0"/>
              <a:t>Örnekler</a:t>
            </a:r>
            <a:endParaRPr lang="tr-TR" dirty="0"/>
          </a:p>
          <a:p>
            <a:r>
              <a:rPr lang="tr-TR" dirty="0"/>
              <a:t>Windows, </a:t>
            </a:r>
            <a:r>
              <a:rPr lang="tr-TR" dirty="0" err="1"/>
              <a:t>macOS</a:t>
            </a:r>
            <a:r>
              <a:rPr lang="tr-TR" dirty="0"/>
              <a:t> masaüstü</a:t>
            </a:r>
          </a:p>
          <a:p>
            <a:r>
              <a:rPr lang="tr-TR" dirty="0" err="1"/>
              <a:t>Veritabanı</a:t>
            </a:r>
            <a:r>
              <a:rPr lang="tr-TR" dirty="0"/>
              <a:t> araçları: </a:t>
            </a:r>
            <a:r>
              <a:rPr lang="tr-TR" b="1" dirty="0" err="1"/>
              <a:t>Navicat</a:t>
            </a:r>
            <a:r>
              <a:rPr lang="tr-TR" dirty="0"/>
              <a:t>, </a:t>
            </a:r>
            <a:r>
              <a:rPr lang="tr-TR" dirty="0" err="1"/>
              <a:t>phpMyAdmin</a:t>
            </a:r>
            <a:r>
              <a:rPr lang="tr-TR" dirty="0"/>
              <a:t>, </a:t>
            </a:r>
            <a:r>
              <a:rPr lang="tr-TR" dirty="0" err="1"/>
              <a:t>DBeaver</a:t>
            </a:r>
            <a:endParaRPr lang="tr-TR" dirty="0"/>
          </a:p>
          <a:p>
            <a:r>
              <a:rPr lang="tr-TR" dirty="0" err="1"/>
              <a:t>IDE’ler</a:t>
            </a:r>
            <a:r>
              <a:rPr lang="tr-TR" dirty="0"/>
              <a:t>: VS </a:t>
            </a:r>
            <a:r>
              <a:rPr lang="tr-TR" dirty="0" err="1"/>
              <a:t>Code</a:t>
            </a:r>
            <a:r>
              <a:rPr lang="tr-TR" dirty="0"/>
              <a:t>, </a:t>
            </a:r>
            <a:r>
              <a:rPr lang="tr-TR" dirty="0" err="1"/>
              <a:t>PhpStorm</a:t>
            </a:r>
            <a:endParaRPr lang="tr-TR" dirty="0"/>
          </a:p>
          <a:p>
            <a:r>
              <a:rPr lang="tr-TR" dirty="0"/>
              <a:t>Sunucu panelleri: </a:t>
            </a:r>
            <a:r>
              <a:rPr lang="tr-TR" dirty="0" err="1"/>
              <a:t>Plesk</a:t>
            </a:r>
            <a:r>
              <a:rPr lang="tr-TR" dirty="0"/>
              <a:t>, </a:t>
            </a:r>
            <a:r>
              <a:rPr lang="tr-TR" dirty="0" err="1"/>
              <a:t>cPanel</a:t>
            </a:r>
            <a:endParaRPr lang="tr-TR" dirty="0"/>
          </a:p>
          <a:p>
            <a:r>
              <a:rPr lang="tr-TR" b="1" dirty="0"/>
              <a:t>Temel Özellikler</a:t>
            </a:r>
            <a:endParaRPr lang="tr-TR" dirty="0"/>
          </a:p>
          <a:p>
            <a:r>
              <a:rPr lang="tr-TR" dirty="0"/>
              <a:t>Kullanımı kolay ve görseldir</a:t>
            </a:r>
          </a:p>
          <a:p>
            <a:r>
              <a:rPr lang="tr-TR" dirty="0"/>
              <a:t>Yeni başlayanlar için idealdir</a:t>
            </a:r>
          </a:p>
          <a:p>
            <a:r>
              <a:rPr lang="tr-TR" dirty="0"/>
              <a:t>Hata yapma riski düşüktür</a:t>
            </a:r>
          </a:p>
          <a:p>
            <a:r>
              <a:rPr lang="tr-TR" dirty="0" err="1"/>
              <a:t>CLI’a</a:t>
            </a:r>
            <a:r>
              <a:rPr lang="tr-TR" dirty="0"/>
              <a:t> göre daha fazla sistem kaynağı kullanır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CLI ve GUI Karşılaştırma Tablosu</a:t>
            </a:r>
          </a:p>
          <a:p>
            <a:r>
              <a:rPr lang="tr-TR" dirty="0" err="1"/>
              <a:t>KriterCLIGUIKullanımKomut</a:t>
            </a:r>
            <a:r>
              <a:rPr lang="tr-TR" dirty="0"/>
              <a:t> </a:t>
            </a:r>
            <a:r>
              <a:rPr lang="tr-TR" dirty="0" err="1"/>
              <a:t>yazarakGörsel</a:t>
            </a:r>
            <a:r>
              <a:rPr lang="tr-TR" dirty="0"/>
              <a:t> </a:t>
            </a:r>
            <a:r>
              <a:rPr lang="tr-TR" dirty="0" err="1"/>
              <a:t>öğelerleÖğrenmeZorKolayHızÇok</a:t>
            </a:r>
            <a:r>
              <a:rPr lang="tr-TR" dirty="0"/>
              <a:t> </a:t>
            </a:r>
            <a:r>
              <a:rPr lang="tr-TR" dirty="0" err="1"/>
              <a:t>hızlıGörece</a:t>
            </a:r>
            <a:r>
              <a:rPr lang="tr-TR" dirty="0"/>
              <a:t> </a:t>
            </a:r>
            <a:r>
              <a:rPr lang="tr-TR" dirty="0" err="1"/>
              <a:t>yavaşKaynak</a:t>
            </a:r>
            <a:r>
              <a:rPr lang="tr-TR" dirty="0"/>
              <a:t> </a:t>
            </a:r>
            <a:r>
              <a:rPr lang="tr-TR" dirty="0" err="1"/>
              <a:t>TüketimiDüşükYüksekOtomasyonÇok</a:t>
            </a:r>
            <a:r>
              <a:rPr lang="tr-TR" dirty="0"/>
              <a:t> </a:t>
            </a:r>
            <a:r>
              <a:rPr lang="tr-TR" dirty="0" err="1"/>
              <a:t>güçlüZayıfUzak</a:t>
            </a:r>
            <a:r>
              <a:rPr lang="tr-TR" dirty="0"/>
              <a:t> </a:t>
            </a:r>
            <a:r>
              <a:rPr lang="tr-TR" dirty="0" err="1"/>
              <a:t>ErişimİdealSınırlıHata</a:t>
            </a:r>
            <a:r>
              <a:rPr lang="tr-TR" dirty="0"/>
              <a:t> </a:t>
            </a:r>
            <a:r>
              <a:rPr lang="tr-TR" dirty="0" err="1"/>
              <a:t>RiskiYüksek</a:t>
            </a:r>
            <a:r>
              <a:rPr lang="tr-TR" dirty="0"/>
              <a:t> (yanlış komut)Düşük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Yazılım Geliştirmede Hangisi Ne Zaman Kullanılır?</a:t>
            </a:r>
          </a:p>
          <a:p>
            <a:r>
              <a:rPr lang="tr-TR" b="1" dirty="0"/>
              <a:t>CLI Tercih Edilen Durumlar</a:t>
            </a:r>
          </a:p>
          <a:p>
            <a:r>
              <a:rPr lang="tr-TR" dirty="0"/>
              <a:t>Sunucu yönetimi (Linux, </a:t>
            </a:r>
            <a:r>
              <a:rPr lang="tr-TR" dirty="0" err="1"/>
              <a:t>Docker</a:t>
            </a:r>
            <a:r>
              <a:rPr lang="tr-TR" dirty="0"/>
              <a:t>, </a:t>
            </a:r>
            <a:r>
              <a:rPr lang="tr-TR" dirty="0" err="1"/>
              <a:t>Nginx</a:t>
            </a:r>
            <a:r>
              <a:rPr lang="tr-TR" dirty="0"/>
              <a:t>)</a:t>
            </a:r>
          </a:p>
          <a:p>
            <a:r>
              <a:rPr lang="tr-TR" dirty="0"/>
              <a:t>Git işlemleri (</a:t>
            </a:r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pull</a:t>
            </a:r>
            <a:r>
              <a:rPr lang="tr-TR" dirty="0"/>
              <a:t>, </a:t>
            </a:r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commit</a:t>
            </a:r>
            <a:r>
              <a:rPr lang="tr-TR" dirty="0"/>
              <a:t>)</a:t>
            </a:r>
          </a:p>
          <a:p>
            <a:r>
              <a:rPr lang="tr-TR" dirty="0"/>
              <a:t>Paket yönetimi (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tr-TR" dirty="0"/>
              <a:t>, 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composer</a:t>
            </a:r>
            <a:r>
              <a:rPr lang="tr-TR" dirty="0"/>
              <a:t>)</a:t>
            </a:r>
          </a:p>
          <a:p>
            <a:r>
              <a:rPr lang="tr-TR" dirty="0" err="1"/>
              <a:t>Cron</a:t>
            </a:r>
            <a:r>
              <a:rPr lang="tr-TR" dirty="0"/>
              <a:t>, otomasyon, CI/CD</a:t>
            </a:r>
          </a:p>
          <a:p>
            <a:r>
              <a:rPr lang="tr-TR" b="1" dirty="0"/>
              <a:t>GUI Tercih Edilen Durumlar</a:t>
            </a:r>
          </a:p>
          <a:p>
            <a:r>
              <a:rPr lang="tr-TR" dirty="0" err="1"/>
              <a:t>Veritabanı</a:t>
            </a:r>
            <a:r>
              <a:rPr lang="tr-TR" dirty="0"/>
              <a:t> tasarımı ve modelleme (</a:t>
            </a:r>
            <a:r>
              <a:rPr lang="tr-TR" b="1" dirty="0" err="1"/>
              <a:t>Navicat</a:t>
            </a:r>
            <a:r>
              <a:rPr lang="tr-TR" b="1" dirty="0"/>
              <a:t> Model</a:t>
            </a:r>
            <a:r>
              <a:rPr lang="tr-TR" dirty="0"/>
              <a:t>)</a:t>
            </a:r>
          </a:p>
          <a:p>
            <a:r>
              <a:rPr lang="tr-TR" dirty="0"/>
              <a:t>Tablo, </a:t>
            </a:r>
            <a:r>
              <a:rPr lang="tr-TR" dirty="0" err="1"/>
              <a:t>index</a:t>
            </a:r>
            <a:r>
              <a:rPr lang="tr-TR" dirty="0"/>
              <a:t>, </a:t>
            </a:r>
            <a:r>
              <a:rPr lang="tr-TR" dirty="0" err="1"/>
              <a:t>foreign</a:t>
            </a:r>
            <a:r>
              <a:rPr lang="tr-TR" dirty="0"/>
              <a:t> </a:t>
            </a:r>
            <a:r>
              <a:rPr lang="tr-TR" dirty="0" err="1"/>
              <a:t>key</a:t>
            </a:r>
            <a:r>
              <a:rPr lang="tr-TR" dirty="0"/>
              <a:t> görsel yönetimi</a:t>
            </a:r>
          </a:p>
          <a:p>
            <a:r>
              <a:rPr lang="tr-TR" dirty="0"/>
              <a:t>Hızlı inceleme ve raporlama</a:t>
            </a:r>
          </a:p>
          <a:p>
            <a:r>
              <a:rPr lang="tr-TR" dirty="0"/>
              <a:t>Eğitim ve sunum ortamları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Pratik Örnek (</a:t>
            </a:r>
            <a:r>
              <a:rPr lang="tr-TR" b="1" dirty="0" err="1"/>
              <a:t>Veritabanı</a:t>
            </a:r>
            <a:r>
              <a:rPr lang="tr-TR" b="1" dirty="0"/>
              <a:t>)</a:t>
            </a:r>
          </a:p>
          <a:p>
            <a:r>
              <a:rPr lang="tr-TR" b="1" dirty="0"/>
              <a:t>CLI ile MySQL</a:t>
            </a:r>
            <a:endParaRPr lang="tr-TR" dirty="0"/>
          </a:p>
          <a:p>
            <a:pPr rtl="0"/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mysql</a:t>
            </a:r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-u 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root</a:t>
            </a:r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-p</a:t>
            </a:r>
          </a:p>
          <a:p>
            <a:pPr rtl="0"/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 DATABASES;</a:t>
            </a:r>
          </a:p>
          <a:p>
            <a:r>
              <a:rPr lang="tr-TR" b="1" dirty="0"/>
              <a:t>GUI ile MySQL (</a:t>
            </a:r>
            <a:r>
              <a:rPr lang="tr-TR" b="1" dirty="0" err="1"/>
              <a:t>Navicat</a:t>
            </a:r>
            <a:r>
              <a:rPr lang="tr-TR" b="1" dirty="0"/>
              <a:t>)</a:t>
            </a:r>
            <a:endParaRPr lang="tr-TR" dirty="0"/>
          </a:p>
          <a:p>
            <a:r>
              <a:rPr lang="tr-TR" dirty="0"/>
              <a:t>Host, kullanıcı adı, şifre girilir</a:t>
            </a:r>
          </a:p>
          <a:p>
            <a:r>
              <a:rPr lang="tr-TR" dirty="0" err="1"/>
              <a:t>Veritabanları</a:t>
            </a:r>
            <a:r>
              <a:rPr lang="tr-TR" dirty="0"/>
              <a:t> sol menüde listelenir</a:t>
            </a:r>
          </a:p>
          <a:p>
            <a:r>
              <a:rPr lang="tr-TR" dirty="0"/>
              <a:t>Tablo ekleme/ilişki sürükle–bırak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Profesyonel Yaklaşım</a:t>
            </a:r>
          </a:p>
          <a:p>
            <a:r>
              <a:rPr lang="tr-TR" dirty="0"/>
              <a:t>Gerçek projelerde </a:t>
            </a:r>
            <a:r>
              <a:rPr lang="tr-TR" b="1" dirty="0"/>
              <a:t>CLI + GUI birlikte kullanılır</a:t>
            </a:r>
            <a:r>
              <a:rPr lang="tr-TR" dirty="0"/>
              <a:t>:</a:t>
            </a:r>
          </a:p>
          <a:p>
            <a:r>
              <a:rPr lang="tr-TR" dirty="0"/>
              <a:t>Günlük işler ve otomasyon → </a:t>
            </a:r>
            <a:r>
              <a:rPr lang="tr-TR" b="1" dirty="0"/>
              <a:t>CLI</a:t>
            </a:r>
            <a:endParaRPr lang="tr-TR" dirty="0"/>
          </a:p>
          <a:p>
            <a:r>
              <a:rPr lang="tr-TR" dirty="0"/>
              <a:t>Tasarım, analiz ve eğitim → </a:t>
            </a:r>
            <a:r>
              <a:rPr lang="tr-TR" b="1" dirty="0"/>
              <a:t>GUI</a:t>
            </a:r>
            <a:endParaRPr lang="tr-TR" dirty="0"/>
          </a:p>
          <a:p>
            <a:r>
              <a:rPr lang="tr-TR" dirty="0"/>
              <a:t>İyi bir yazılımcı her ikisini de etkin kullanabilendir.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767-E8DB-416A-A8FF-889E77A1D286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8844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dirty="0" err="1"/>
              <a:t>Navicat</a:t>
            </a:r>
            <a:r>
              <a:rPr lang="tr-TR" b="1" dirty="0"/>
              <a:t> Nedir? (Kavramsal anlatım)</a:t>
            </a:r>
          </a:p>
          <a:p>
            <a:r>
              <a:rPr lang="tr-TR" dirty="0" err="1"/>
              <a:t>Navicat</a:t>
            </a:r>
            <a:r>
              <a:rPr lang="tr-TR" dirty="0"/>
              <a:t>, tek bir uygulama üzerinden farklı </a:t>
            </a:r>
            <a:r>
              <a:rPr lang="tr-TR" dirty="0" err="1"/>
              <a:t>veritabanı</a:t>
            </a:r>
            <a:r>
              <a:rPr lang="tr-TR" dirty="0"/>
              <a:t> türlerine bağlanabildiğin bir </a:t>
            </a:r>
            <a:r>
              <a:rPr lang="tr-TR" dirty="0" err="1"/>
              <a:t>veritabanı</a:t>
            </a:r>
            <a:r>
              <a:rPr lang="tr-TR" dirty="0"/>
              <a:t> yönetim ve geliştirme aracıdır. </a:t>
            </a:r>
          </a:p>
          <a:p>
            <a:r>
              <a:rPr lang="tr-TR" dirty="0"/>
              <a:t>Özellikle “Premium” sürüm, tek programdan MySQL, </a:t>
            </a:r>
            <a:r>
              <a:rPr lang="tr-TR" dirty="0" err="1"/>
              <a:t>PostgreSQL</a:t>
            </a:r>
            <a:r>
              <a:rPr lang="tr-TR" dirty="0"/>
              <a:t>, Oracle, SQL Server, </a:t>
            </a:r>
            <a:r>
              <a:rPr lang="tr-TR" dirty="0" err="1"/>
              <a:t>SQLite</a:t>
            </a:r>
            <a:r>
              <a:rPr lang="tr-TR" dirty="0"/>
              <a:t> gibi sistemleri aynı anda yönetmeye izin verir; </a:t>
            </a:r>
          </a:p>
          <a:p>
            <a:r>
              <a:rPr lang="tr-TR" dirty="0"/>
              <a:t>ayrıca </a:t>
            </a:r>
            <a:r>
              <a:rPr lang="tr-TR" dirty="0" err="1"/>
              <a:t>MongoDB</a:t>
            </a:r>
            <a:r>
              <a:rPr lang="tr-TR" dirty="0"/>
              <a:t>/</a:t>
            </a:r>
            <a:r>
              <a:rPr lang="tr-TR" dirty="0" err="1"/>
              <a:t>Redis</a:t>
            </a:r>
            <a:r>
              <a:rPr lang="tr-TR" dirty="0"/>
              <a:t>/</a:t>
            </a:r>
            <a:r>
              <a:rPr lang="tr-TR" dirty="0" err="1"/>
              <a:t>Snowflake</a:t>
            </a:r>
            <a:r>
              <a:rPr lang="tr-TR" dirty="0"/>
              <a:t> gibi sistemlere de bağlanabilir.</a:t>
            </a:r>
          </a:p>
          <a:p>
            <a:endParaRPr lang="tr-TR" dirty="0"/>
          </a:p>
          <a:p>
            <a:r>
              <a:rPr lang="tr-TR" b="1" dirty="0" err="1"/>
              <a:t>Navicat’in</a:t>
            </a:r>
            <a:r>
              <a:rPr lang="tr-TR" b="1" dirty="0"/>
              <a:t> sağladığı değer şudur:</a:t>
            </a:r>
            <a:endParaRPr lang="tr-TR" dirty="0"/>
          </a:p>
          <a:p>
            <a:r>
              <a:rPr lang="tr-TR" dirty="0"/>
              <a:t>Bir projede </a:t>
            </a:r>
            <a:r>
              <a:rPr lang="tr-TR" i="1" dirty="0"/>
              <a:t>sadece</a:t>
            </a:r>
            <a:r>
              <a:rPr lang="tr-TR" dirty="0"/>
              <a:t> sorgu yazmak yok: tablo tasarlama, ilişki kurma, yedekleme, veri taşıma, raporlama, hata ayıklama, performans analizi gibi işler var.</a:t>
            </a:r>
          </a:p>
          <a:p>
            <a:r>
              <a:rPr lang="tr-TR" dirty="0"/>
              <a:t>Terminalden bunların hepsi yapılır ama GUI araçları işin hızını çok artırır.</a:t>
            </a:r>
          </a:p>
          <a:p>
            <a:endParaRPr lang="tr-TR" dirty="0"/>
          </a:p>
          <a:p>
            <a:r>
              <a:rPr lang="tr-TR" dirty="0" err="1"/>
              <a:t>Navicat'ın</a:t>
            </a:r>
            <a:r>
              <a:rPr lang="tr-TR" dirty="0"/>
              <a:t> Kapsamlı Veri tabanı Desteği</a:t>
            </a:r>
          </a:p>
          <a:p>
            <a:r>
              <a:rPr lang="tr-TR" dirty="0"/>
              <a:t>İLİŞKİSEL VERİTABANLARI (RDBMS)</a:t>
            </a:r>
          </a:p>
          <a:p>
            <a:r>
              <a:rPr lang="tr-TR" dirty="0"/>
              <a:t>MySQL, </a:t>
            </a:r>
            <a:r>
              <a:rPr lang="tr-TR" dirty="0" err="1"/>
              <a:t>MariaDB</a:t>
            </a:r>
            <a:r>
              <a:rPr lang="tr-TR" dirty="0"/>
              <a:t>, </a:t>
            </a:r>
            <a:r>
              <a:rPr lang="tr-TR" dirty="0" err="1"/>
              <a:t>PostgreSQL</a:t>
            </a:r>
            <a:r>
              <a:rPr lang="tr-TR" dirty="0"/>
              <a:t>, Oracle, Microsoft SQL Server, </a:t>
            </a:r>
            <a:r>
              <a:rPr lang="tr-TR" dirty="0" err="1"/>
              <a:t>SQLite</a:t>
            </a:r>
            <a:endParaRPr lang="tr-TR" dirty="0"/>
          </a:p>
          <a:p>
            <a:r>
              <a:rPr lang="tr-TR" dirty="0"/>
              <a:t>NOSQL VERİTABANLARI</a:t>
            </a:r>
          </a:p>
          <a:p>
            <a:r>
              <a:rPr lang="tr-TR" dirty="0" err="1"/>
              <a:t>MongoDB</a:t>
            </a:r>
            <a:r>
              <a:rPr lang="tr-TR" dirty="0"/>
              <a:t>, </a:t>
            </a:r>
            <a:r>
              <a:rPr lang="tr-TR" dirty="0" err="1"/>
              <a:t>Redis</a:t>
            </a:r>
            <a:endParaRPr lang="tr-TR" dirty="0"/>
          </a:p>
          <a:p>
            <a:r>
              <a:rPr lang="tr-TR" dirty="0"/>
              <a:t>BULUT VERİTABANLARI</a:t>
            </a:r>
          </a:p>
          <a:p>
            <a:r>
              <a:rPr lang="tr-TR" dirty="0"/>
              <a:t>Amazon RDS, Google Cloud SQL, Oracle Cloud, Microsoft Azure</a:t>
            </a:r>
          </a:p>
          <a:p>
            <a:endParaRPr lang="tr-TR" dirty="0"/>
          </a:p>
          <a:p>
            <a:r>
              <a:rPr lang="tr-TR" b="1" dirty="0" err="1"/>
              <a:t>Navicat</a:t>
            </a:r>
            <a:r>
              <a:rPr lang="tr-TR" b="1" dirty="0"/>
              <a:t> Premium</a:t>
            </a:r>
            <a:r>
              <a:rPr lang="tr-TR" dirty="0"/>
              <a:t>, yani </a:t>
            </a:r>
            <a:r>
              <a:rPr lang="tr-TR" dirty="0" err="1"/>
              <a:t>Navicat’in</a:t>
            </a:r>
            <a:r>
              <a:rPr lang="tr-TR" dirty="0"/>
              <a:t> tüm </a:t>
            </a:r>
            <a:r>
              <a:rPr lang="tr-TR" dirty="0" err="1"/>
              <a:t>veritabanı</a:t>
            </a:r>
            <a:r>
              <a:rPr lang="tr-TR" dirty="0"/>
              <a:t> tiplerini tek bir uygulamada birleştiren versiyonu, </a:t>
            </a:r>
            <a:r>
              <a:rPr lang="tr-TR" b="1" dirty="0"/>
              <a:t>ilk olarak 2009 yılında yayınlandı.</a:t>
            </a:r>
            <a:endParaRPr lang="tr-TR" dirty="0"/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767-E8DB-416A-A8FF-889E77A1D286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6354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dirty="0"/>
              <a:t>3) </a:t>
            </a:r>
            <a:r>
              <a:rPr lang="tr-TR" b="1" dirty="0" err="1"/>
              <a:t>Navicat</a:t>
            </a:r>
            <a:r>
              <a:rPr lang="tr-TR" b="1" dirty="0"/>
              <a:t> Ürün Ailesi / Modüller Mantığı</a:t>
            </a:r>
          </a:p>
          <a:p>
            <a:r>
              <a:rPr lang="tr-TR" dirty="0" err="1"/>
              <a:t>Navicat</a:t>
            </a:r>
            <a:r>
              <a:rPr lang="tr-TR" dirty="0"/>
              <a:t> dünyasında genelde 2 ana yaklaşım var:</a:t>
            </a:r>
          </a:p>
          <a:p>
            <a:r>
              <a:rPr lang="tr-TR" b="1" dirty="0" err="1"/>
              <a:t>Navicat</a:t>
            </a:r>
            <a:r>
              <a:rPr lang="tr-TR" b="1" dirty="0"/>
              <a:t> Premium</a:t>
            </a:r>
            <a:r>
              <a:rPr lang="tr-TR" dirty="0"/>
              <a:t>: Çoklu DB türleri tek uygulamada </a:t>
            </a:r>
            <a:r>
              <a:rPr lang="tr-TR" dirty="0" err="1">
                <a:hlinkClick r:id="rId3"/>
              </a:rPr>
              <a:t>Navicat</a:t>
            </a:r>
            <a:endParaRPr lang="tr-TR" dirty="0"/>
          </a:p>
          <a:p>
            <a:r>
              <a:rPr lang="tr-TR" b="1" dirty="0" err="1"/>
              <a:t>Navicat</a:t>
            </a:r>
            <a:r>
              <a:rPr lang="tr-TR" b="1" dirty="0"/>
              <a:t> </a:t>
            </a:r>
            <a:r>
              <a:rPr lang="tr-TR" b="1" dirty="0" err="1"/>
              <a:t>for</a:t>
            </a:r>
            <a:r>
              <a:rPr lang="tr-TR" b="1" dirty="0"/>
              <a:t> MySQL / </a:t>
            </a:r>
            <a:r>
              <a:rPr lang="tr-TR" b="1" dirty="0" err="1"/>
              <a:t>PostgreSQL</a:t>
            </a:r>
            <a:r>
              <a:rPr lang="tr-TR" b="1" dirty="0"/>
              <a:t> / ...</a:t>
            </a:r>
            <a:r>
              <a:rPr lang="tr-TR" dirty="0"/>
              <a:t>: Tek DB ailesi odaklı ürün (MySQL/</a:t>
            </a:r>
            <a:r>
              <a:rPr lang="tr-TR" dirty="0" err="1"/>
              <a:t>MariaDB</a:t>
            </a:r>
            <a:r>
              <a:rPr lang="tr-TR" dirty="0"/>
              <a:t> gibi) </a:t>
            </a:r>
            <a:r>
              <a:rPr lang="tr-TR" dirty="0" err="1">
                <a:hlinkClick r:id="rId4"/>
              </a:rPr>
              <a:t>Navicat</a:t>
            </a:r>
            <a:endParaRPr lang="tr-TR" dirty="0"/>
          </a:p>
          <a:p>
            <a:r>
              <a:rPr lang="tr-TR" dirty="0"/>
              <a:t>Ayrıca </a:t>
            </a:r>
            <a:r>
              <a:rPr lang="tr-TR" b="1" dirty="0" err="1"/>
              <a:t>Navicat</a:t>
            </a:r>
            <a:r>
              <a:rPr lang="tr-TR" b="1" dirty="0"/>
              <a:t> Data Modeler</a:t>
            </a:r>
            <a:r>
              <a:rPr lang="tr-TR" dirty="0"/>
              <a:t> gibi ayrı ürünler/özellik setleri var: ER diyagram ve modelleme odaklı. </a:t>
            </a:r>
            <a:r>
              <a:rPr lang="tr-TR" dirty="0" err="1"/>
              <a:t>Reverse</a:t>
            </a:r>
            <a:r>
              <a:rPr lang="tr-TR" dirty="0"/>
              <a:t> </a:t>
            </a:r>
            <a:r>
              <a:rPr lang="tr-TR" dirty="0" err="1"/>
              <a:t>engineering</a:t>
            </a:r>
            <a:r>
              <a:rPr lang="tr-TR" dirty="0"/>
              <a:t> (DB’den modele çıkarma) gibi özellikleri vurgular.</a:t>
            </a:r>
          </a:p>
          <a:p>
            <a:endParaRPr lang="tr-TR" dirty="0"/>
          </a:p>
          <a:p>
            <a:r>
              <a:rPr lang="tr-TR" dirty="0"/>
              <a:t>“Ben bugün </a:t>
            </a:r>
            <a:r>
              <a:rPr lang="tr-TR" dirty="0" err="1"/>
              <a:t>Navicat’ı</a:t>
            </a:r>
            <a:r>
              <a:rPr lang="tr-TR" dirty="0"/>
              <a:t> bir GUI </a:t>
            </a:r>
            <a:r>
              <a:rPr lang="tr-TR" dirty="0" err="1"/>
              <a:t>client</a:t>
            </a:r>
            <a:r>
              <a:rPr lang="tr-TR" dirty="0"/>
              <a:t> olarak ele alıyorum; ama </a:t>
            </a:r>
            <a:r>
              <a:rPr lang="tr-TR" dirty="0" err="1"/>
              <a:t>Navicat</a:t>
            </a:r>
            <a:r>
              <a:rPr lang="tr-TR" dirty="0"/>
              <a:t> aslında bir ‘araç seti’.”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767-E8DB-416A-A8FF-889E77A1D286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8051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Güvenli ve Esnek Bağlantı Seçenekler </a:t>
            </a:r>
          </a:p>
          <a:p>
            <a:r>
              <a:rPr lang="tr-TR" dirty="0"/>
              <a:t>SSH Tünelleme: Güvenli olmayan ağlar üzerinden bile şifreli bağlantı kurma.</a:t>
            </a:r>
          </a:p>
          <a:p>
            <a:r>
              <a:rPr lang="tr-TR" dirty="0"/>
              <a:t>HTTP Tünelleme: Güvenlik duvarlarının arkasındaki veri tabanlarına erişim sağlama. </a:t>
            </a:r>
          </a:p>
          <a:p>
            <a:r>
              <a:rPr lang="tr-TR" dirty="0"/>
              <a:t>SSL Desteği: Ver iletişimin şifrelemek için SSL/TLS kullanma imkanı.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767-E8DB-416A-A8FF-889E77A1D286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5434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767-E8DB-416A-A8FF-889E77A1D286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325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dirty="0" err="1"/>
              <a:t>Veritabanı</a:t>
            </a:r>
            <a:r>
              <a:rPr lang="tr-TR" b="1" dirty="0"/>
              <a:t> modelleme</a:t>
            </a:r>
            <a:r>
              <a:rPr lang="tr-TR" dirty="0"/>
              <a:t>, bir yazılımın verilerinin:</a:t>
            </a:r>
          </a:p>
          <a:p>
            <a:r>
              <a:rPr lang="tr-TR" dirty="0"/>
              <a:t>hangi tablolarda tutulacağını,</a:t>
            </a:r>
          </a:p>
          <a:p>
            <a:r>
              <a:rPr lang="tr-TR" dirty="0"/>
              <a:t>tabloların hangi alanlara sahip olacağını,</a:t>
            </a:r>
          </a:p>
          <a:p>
            <a:r>
              <a:rPr lang="tr-TR" dirty="0"/>
              <a:t>tablolar arasında nasıl ilişkiler olacağını</a:t>
            </a:r>
          </a:p>
          <a:p>
            <a:endParaRPr lang="tr-TR" dirty="0"/>
          </a:p>
          <a:p>
            <a:r>
              <a:rPr lang="tr-TR" dirty="0"/>
              <a:t>Modelleme = Koddan önce düşünmek</a:t>
            </a:r>
          </a:p>
          <a:p>
            <a:endParaRPr lang="tr-TR" dirty="0"/>
          </a:p>
          <a:p>
            <a:r>
              <a:rPr lang="tr-TR" b="1" dirty="0" err="1"/>
              <a:t>Navicat’te</a:t>
            </a:r>
            <a:r>
              <a:rPr lang="tr-TR" b="1" dirty="0"/>
              <a:t> Modelleme Ne Anlama Gelir?</a:t>
            </a:r>
          </a:p>
          <a:p>
            <a:r>
              <a:rPr lang="tr-TR" dirty="0" err="1"/>
              <a:t>Navicat’te</a:t>
            </a:r>
            <a:r>
              <a:rPr lang="tr-TR" dirty="0"/>
              <a:t> modelleme:</a:t>
            </a:r>
          </a:p>
          <a:p>
            <a:r>
              <a:rPr lang="tr-TR" b="1" dirty="0"/>
              <a:t>ER </a:t>
            </a:r>
            <a:r>
              <a:rPr lang="tr-TR" b="1" dirty="0" err="1"/>
              <a:t>Diagram</a:t>
            </a:r>
            <a:r>
              <a:rPr lang="tr-TR" b="1" dirty="0"/>
              <a:t> (</a:t>
            </a:r>
            <a:r>
              <a:rPr lang="tr-TR" b="1" dirty="0" err="1"/>
              <a:t>Entity</a:t>
            </a:r>
            <a:r>
              <a:rPr lang="tr-TR" b="1" dirty="0"/>
              <a:t> </a:t>
            </a:r>
            <a:r>
              <a:rPr lang="tr-TR" b="1" dirty="0" err="1"/>
              <a:t>Relationship</a:t>
            </a:r>
            <a:r>
              <a:rPr lang="tr-TR" b="1" dirty="0"/>
              <a:t> </a:t>
            </a:r>
            <a:r>
              <a:rPr lang="tr-TR" b="1" dirty="0" err="1"/>
              <a:t>Diagram</a:t>
            </a:r>
            <a:r>
              <a:rPr lang="tr-TR" b="1" dirty="0"/>
              <a:t>)</a:t>
            </a:r>
            <a:r>
              <a:rPr lang="tr-TR" dirty="0"/>
              <a:t> üzerinden yapılır</a:t>
            </a:r>
          </a:p>
          <a:p>
            <a:r>
              <a:rPr lang="tr-TR" dirty="0"/>
              <a:t>Tabloları </a:t>
            </a:r>
            <a:r>
              <a:rPr lang="tr-TR" b="1" dirty="0"/>
              <a:t>kutular</a:t>
            </a:r>
            <a:r>
              <a:rPr lang="tr-TR" dirty="0"/>
              <a:t>, ilişkileri </a:t>
            </a:r>
            <a:r>
              <a:rPr lang="tr-TR" b="1" dirty="0"/>
              <a:t>çizgiler</a:t>
            </a:r>
            <a:r>
              <a:rPr lang="tr-TR" dirty="0"/>
              <a:t> ile gösterir</a:t>
            </a:r>
          </a:p>
          <a:p>
            <a:r>
              <a:rPr lang="tr-TR" dirty="0"/>
              <a:t>Hem </a:t>
            </a:r>
            <a:r>
              <a:rPr lang="tr-TR" b="1" dirty="0" err="1"/>
              <a:t>veritabanından</a:t>
            </a:r>
            <a:r>
              <a:rPr lang="tr-TR" b="1" dirty="0"/>
              <a:t> modele</a:t>
            </a:r>
            <a:r>
              <a:rPr lang="tr-TR" dirty="0"/>
              <a:t>, hem de </a:t>
            </a:r>
            <a:r>
              <a:rPr lang="tr-TR" b="1" dirty="0"/>
              <a:t>modelden </a:t>
            </a:r>
            <a:r>
              <a:rPr lang="tr-TR" b="1" dirty="0" err="1"/>
              <a:t>veritabanına</a:t>
            </a:r>
            <a:r>
              <a:rPr lang="tr-TR" dirty="0"/>
              <a:t> dönüşüm yapabilir</a:t>
            </a:r>
          </a:p>
          <a:p>
            <a:r>
              <a:rPr lang="tr-TR" dirty="0" err="1"/>
              <a:t>Navicat’te</a:t>
            </a:r>
            <a:r>
              <a:rPr lang="tr-TR" dirty="0"/>
              <a:t> bu işlevler iki şekilde karşımıza çıkar:</a:t>
            </a:r>
          </a:p>
          <a:p>
            <a:r>
              <a:rPr lang="tr-TR" b="1" dirty="0" err="1"/>
              <a:t>Navicat</a:t>
            </a:r>
            <a:r>
              <a:rPr lang="tr-TR" b="1" dirty="0"/>
              <a:t> içindeki ER </a:t>
            </a:r>
            <a:r>
              <a:rPr lang="tr-TR" b="1" dirty="0" err="1"/>
              <a:t>Diagram</a:t>
            </a:r>
            <a:r>
              <a:rPr lang="tr-TR" b="1" dirty="0"/>
              <a:t> / Design özellikleri</a:t>
            </a:r>
            <a:endParaRPr lang="tr-TR" dirty="0"/>
          </a:p>
          <a:p>
            <a:r>
              <a:rPr lang="tr-TR" b="1" dirty="0" err="1"/>
              <a:t>Navicat</a:t>
            </a:r>
            <a:r>
              <a:rPr lang="tr-TR" b="1" dirty="0"/>
              <a:t> Data Modeler</a:t>
            </a:r>
            <a:r>
              <a:rPr lang="tr-TR" dirty="0"/>
              <a:t> (ayrı ama entegre çalışan profesyonel araç)</a:t>
            </a:r>
          </a:p>
          <a:p>
            <a:endParaRPr lang="tr-TR" dirty="0"/>
          </a:p>
          <a:p>
            <a:endParaRPr lang="tr-TR" dirty="0"/>
          </a:p>
          <a:p>
            <a:r>
              <a:rPr lang="tr-TR" dirty="0" err="1"/>
              <a:t>Navicat</a:t>
            </a:r>
            <a:r>
              <a:rPr lang="tr-TR" dirty="0"/>
              <a:t> sadece tablo ekleme aracı değil, aynı zamanda bir </a:t>
            </a:r>
            <a:r>
              <a:rPr lang="tr-TR" b="1" dirty="0" err="1"/>
              <a:t>veritabanı</a:t>
            </a:r>
            <a:r>
              <a:rPr lang="tr-TR" b="1" dirty="0"/>
              <a:t> tasarım aracıdır</a:t>
            </a:r>
          </a:p>
          <a:p>
            <a:endParaRPr lang="tr-TR" b="1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767-E8DB-416A-A8FF-889E77A1D286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295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dirty="0"/>
              <a:t>NAVICAT – Avantaj &amp; Dezavantajlar</a:t>
            </a:r>
          </a:p>
          <a:p>
            <a:r>
              <a:rPr lang="tr-TR" b="1" dirty="0"/>
              <a:t>✅ Avantajları</a:t>
            </a:r>
          </a:p>
          <a:p>
            <a:r>
              <a:rPr lang="tr-TR" b="1" dirty="0"/>
              <a:t>Çoklu </a:t>
            </a:r>
            <a:r>
              <a:rPr lang="tr-TR" b="1" dirty="0" err="1"/>
              <a:t>veritabanı</a:t>
            </a:r>
            <a:r>
              <a:rPr lang="tr-TR" b="1" dirty="0"/>
              <a:t> desteği</a:t>
            </a:r>
            <a:endParaRPr lang="tr-TR" dirty="0"/>
          </a:p>
          <a:p>
            <a:pPr lvl="1"/>
            <a:r>
              <a:rPr lang="tr-TR" dirty="0"/>
              <a:t>MySQL, </a:t>
            </a:r>
            <a:r>
              <a:rPr lang="tr-TR" dirty="0" err="1"/>
              <a:t>MariaDB</a:t>
            </a:r>
            <a:r>
              <a:rPr lang="tr-TR" dirty="0"/>
              <a:t>, </a:t>
            </a:r>
            <a:r>
              <a:rPr lang="tr-TR" dirty="0" err="1"/>
              <a:t>PostgreSQL</a:t>
            </a:r>
            <a:r>
              <a:rPr lang="tr-TR" dirty="0"/>
              <a:t>, Oracle, SQL Server, </a:t>
            </a:r>
            <a:r>
              <a:rPr lang="tr-TR" dirty="0" err="1"/>
              <a:t>SQLite</a:t>
            </a:r>
            <a:r>
              <a:rPr lang="tr-TR" dirty="0"/>
              <a:t>, </a:t>
            </a:r>
            <a:r>
              <a:rPr lang="tr-TR" dirty="0" err="1"/>
              <a:t>MongoDB</a:t>
            </a:r>
            <a:r>
              <a:rPr lang="tr-TR" dirty="0"/>
              <a:t>, </a:t>
            </a:r>
            <a:r>
              <a:rPr lang="tr-TR" dirty="0" err="1"/>
              <a:t>Redis</a:t>
            </a:r>
            <a:endParaRPr lang="tr-TR" dirty="0"/>
          </a:p>
          <a:p>
            <a:r>
              <a:rPr lang="tr-TR" b="1" dirty="0"/>
              <a:t>Tek arayüzden tüm DB’ler</a:t>
            </a:r>
            <a:endParaRPr lang="tr-TR" dirty="0"/>
          </a:p>
          <a:p>
            <a:pPr lvl="1"/>
            <a:r>
              <a:rPr lang="tr-TR" dirty="0"/>
              <a:t>Farklı </a:t>
            </a:r>
            <a:r>
              <a:rPr lang="tr-TR" dirty="0" err="1"/>
              <a:t>veritabanlarını</a:t>
            </a:r>
            <a:r>
              <a:rPr lang="tr-TR" dirty="0"/>
              <a:t> tek programdan yönetebilirsin</a:t>
            </a:r>
          </a:p>
          <a:p>
            <a:r>
              <a:rPr lang="tr-TR" b="1" dirty="0"/>
              <a:t>Görsel ve kullanıcı dostu arayüz</a:t>
            </a:r>
            <a:endParaRPr lang="tr-TR" dirty="0"/>
          </a:p>
          <a:p>
            <a:pPr lvl="1"/>
            <a:r>
              <a:rPr lang="tr-TR" dirty="0"/>
              <a:t>CLI bilmeyenler için çok ideal</a:t>
            </a:r>
          </a:p>
          <a:p>
            <a:r>
              <a:rPr lang="tr-TR" b="1" dirty="0"/>
              <a:t>Visual Query Builder</a:t>
            </a:r>
            <a:endParaRPr lang="tr-TR" dirty="0"/>
          </a:p>
          <a:p>
            <a:pPr lvl="1"/>
            <a:r>
              <a:rPr lang="tr-TR" dirty="0"/>
              <a:t>SQL yazmadan sorgu oluşturma</a:t>
            </a:r>
          </a:p>
          <a:p>
            <a:r>
              <a:rPr lang="tr-TR" b="1" dirty="0"/>
              <a:t>Veri senkronizasyonu</a:t>
            </a:r>
            <a:endParaRPr lang="tr-TR" dirty="0"/>
          </a:p>
          <a:p>
            <a:pPr lvl="1"/>
            <a:r>
              <a:rPr lang="tr-TR" dirty="0"/>
              <a:t>DB ↔ DB, tablo ↔ tablo karşılaştırma</a:t>
            </a:r>
          </a:p>
          <a:p>
            <a:r>
              <a:rPr lang="tr-TR" b="1" dirty="0"/>
              <a:t>Modelleme (ER </a:t>
            </a:r>
            <a:r>
              <a:rPr lang="tr-TR" b="1" dirty="0" err="1"/>
              <a:t>Diagram</a:t>
            </a:r>
            <a:r>
              <a:rPr lang="tr-TR" b="1" dirty="0"/>
              <a:t>)</a:t>
            </a:r>
            <a:endParaRPr lang="tr-TR" dirty="0"/>
          </a:p>
          <a:p>
            <a:pPr lvl="1"/>
            <a:r>
              <a:rPr lang="tr-TR" dirty="0"/>
              <a:t>Tablo ilişkilerini görsel olarak tasarlama</a:t>
            </a:r>
          </a:p>
          <a:p>
            <a:r>
              <a:rPr lang="tr-TR" b="1" dirty="0" err="1"/>
              <a:t>Backup</a:t>
            </a:r>
            <a:r>
              <a:rPr lang="tr-TR" b="1" dirty="0"/>
              <a:t> / Restore</a:t>
            </a:r>
            <a:endParaRPr lang="tr-TR" dirty="0"/>
          </a:p>
          <a:p>
            <a:pPr lvl="1"/>
            <a:r>
              <a:rPr lang="tr-TR" dirty="0"/>
              <a:t>Zamanlanmış yedekleme</a:t>
            </a:r>
          </a:p>
          <a:p>
            <a:r>
              <a:rPr lang="tr-TR" b="1" dirty="0"/>
              <a:t>Cloud destekleri</a:t>
            </a:r>
            <a:endParaRPr lang="tr-TR" dirty="0"/>
          </a:p>
          <a:p>
            <a:pPr lvl="1"/>
            <a:r>
              <a:rPr lang="tr-TR" dirty="0"/>
              <a:t>Amazon RDS, Azure, Google Cloud</a:t>
            </a:r>
          </a:p>
          <a:p>
            <a:r>
              <a:rPr lang="tr-TR" b="1" dirty="0"/>
              <a:t>Stabil ve hızlı</a:t>
            </a:r>
            <a:endParaRPr lang="tr-TR" dirty="0"/>
          </a:p>
          <a:p>
            <a:pPr lvl="1"/>
            <a:r>
              <a:rPr lang="tr-TR" dirty="0"/>
              <a:t>Büyük </a:t>
            </a:r>
            <a:r>
              <a:rPr lang="tr-TR" dirty="0" err="1"/>
              <a:t>veritabanlarında</a:t>
            </a:r>
            <a:r>
              <a:rPr lang="tr-TR" dirty="0"/>
              <a:t> bile performanslı</a:t>
            </a:r>
          </a:p>
          <a:p>
            <a:r>
              <a:rPr lang="tr-TR" b="1" dirty="0"/>
              <a:t>❌ Dezavantajları</a:t>
            </a:r>
          </a:p>
          <a:p>
            <a:r>
              <a:rPr lang="tr-TR" b="1" dirty="0"/>
              <a:t>Ücretli</a:t>
            </a:r>
            <a:endParaRPr lang="tr-TR" dirty="0"/>
          </a:p>
          <a:p>
            <a:pPr lvl="1"/>
            <a:r>
              <a:rPr lang="tr-TR" dirty="0"/>
              <a:t>Lisans fiyatı bireysel kullanıcılar için pahalı</a:t>
            </a:r>
          </a:p>
          <a:p>
            <a:r>
              <a:rPr lang="tr-TR" b="1" dirty="0"/>
              <a:t>Premium özellikler ayrı</a:t>
            </a:r>
            <a:endParaRPr lang="tr-TR" dirty="0"/>
          </a:p>
          <a:p>
            <a:pPr lvl="1"/>
            <a:r>
              <a:rPr lang="tr-TR" dirty="0"/>
              <a:t>Tek DB lisansı </a:t>
            </a:r>
            <a:r>
              <a:rPr lang="tr-TR" dirty="0" err="1"/>
              <a:t>vs</a:t>
            </a:r>
            <a:r>
              <a:rPr lang="tr-TR" dirty="0"/>
              <a:t> Premium farkı</a:t>
            </a:r>
          </a:p>
          <a:p>
            <a:r>
              <a:rPr lang="tr-TR" b="1" dirty="0"/>
              <a:t>Açık kaynak değil</a:t>
            </a:r>
            <a:endParaRPr lang="tr-TR" dirty="0"/>
          </a:p>
          <a:p>
            <a:r>
              <a:rPr lang="tr-TR" b="1" dirty="0"/>
              <a:t>SQL IDE derinliği </a:t>
            </a:r>
            <a:r>
              <a:rPr lang="tr-TR" b="1" dirty="0" err="1"/>
              <a:t>DataGrip</a:t>
            </a:r>
            <a:r>
              <a:rPr lang="tr-TR" b="1" dirty="0"/>
              <a:t> kadar güçlü değil</a:t>
            </a:r>
            <a:endParaRPr lang="tr-TR" dirty="0"/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🔵 DBEAVER – Avantaj &amp; Dezavantajlar</a:t>
            </a:r>
          </a:p>
          <a:p>
            <a:r>
              <a:rPr lang="tr-TR" b="1" dirty="0"/>
              <a:t>✅ Avantajları</a:t>
            </a:r>
          </a:p>
          <a:p>
            <a:r>
              <a:rPr lang="tr-TR" b="1" dirty="0"/>
              <a:t>Ücretsiz (</a:t>
            </a:r>
            <a:r>
              <a:rPr lang="tr-TR" b="1" dirty="0" err="1"/>
              <a:t>Community</a:t>
            </a:r>
            <a:r>
              <a:rPr lang="tr-TR" b="1" dirty="0"/>
              <a:t> Edition)</a:t>
            </a:r>
            <a:endParaRPr lang="tr-TR" dirty="0"/>
          </a:p>
          <a:p>
            <a:r>
              <a:rPr lang="tr-TR" b="1" dirty="0"/>
              <a:t>Açık kaynak</a:t>
            </a:r>
            <a:endParaRPr lang="tr-TR" dirty="0"/>
          </a:p>
          <a:p>
            <a:r>
              <a:rPr lang="tr-TR" b="1" dirty="0"/>
              <a:t>Çok geniş DB desteği</a:t>
            </a:r>
            <a:endParaRPr lang="tr-TR" dirty="0"/>
          </a:p>
          <a:p>
            <a:r>
              <a:rPr lang="tr-TR" b="1" dirty="0" err="1"/>
              <a:t>Plugin</a:t>
            </a:r>
            <a:r>
              <a:rPr lang="tr-TR" b="1" dirty="0"/>
              <a:t> (eklenti) mimarisi</a:t>
            </a:r>
            <a:endParaRPr lang="tr-TR" dirty="0"/>
          </a:p>
          <a:p>
            <a:r>
              <a:rPr lang="tr-TR" b="1" dirty="0"/>
              <a:t>ER </a:t>
            </a:r>
            <a:r>
              <a:rPr lang="tr-TR" b="1" dirty="0" err="1"/>
              <a:t>Diagram</a:t>
            </a:r>
            <a:r>
              <a:rPr lang="tr-TR" b="1" dirty="0"/>
              <a:t> desteği</a:t>
            </a:r>
            <a:endParaRPr lang="tr-TR" dirty="0"/>
          </a:p>
          <a:p>
            <a:r>
              <a:rPr lang="tr-TR" b="1" dirty="0"/>
              <a:t>Cross-platform (Win / Mac / Linux)</a:t>
            </a:r>
            <a:endParaRPr lang="tr-TR" dirty="0"/>
          </a:p>
          <a:p>
            <a:r>
              <a:rPr lang="tr-TR" b="1" dirty="0"/>
              <a:t>❌ Dezavantajları</a:t>
            </a:r>
          </a:p>
          <a:p>
            <a:r>
              <a:rPr lang="tr-TR" b="1" dirty="0"/>
              <a:t>Arayüz karmaşık</a:t>
            </a:r>
            <a:endParaRPr lang="tr-TR" dirty="0"/>
          </a:p>
          <a:p>
            <a:pPr lvl="1"/>
            <a:r>
              <a:rPr lang="tr-TR" dirty="0"/>
              <a:t>Yeni başlayanlar için zor</a:t>
            </a:r>
          </a:p>
          <a:p>
            <a:r>
              <a:rPr lang="tr-TR" b="1" dirty="0"/>
              <a:t>Performans</a:t>
            </a:r>
            <a:endParaRPr lang="tr-TR" dirty="0"/>
          </a:p>
          <a:p>
            <a:pPr lvl="1"/>
            <a:r>
              <a:rPr lang="tr-TR" dirty="0"/>
              <a:t>Büyük DB’lerde </a:t>
            </a:r>
            <a:r>
              <a:rPr lang="tr-TR" dirty="0" err="1"/>
              <a:t>Navicat</a:t>
            </a:r>
            <a:r>
              <a:rPr lang="tr-TR" dirty="0"/>
              <a:t> kadar akıcı değil</a:t>
            </a:r>
          </a:p>
          <a:p>
            <a:r>
              <a:rPr lang="tr-TR" b="1" dirty="0"/>
              <a:t>Senkronizasyon ve karşılaştırma sınırlı</a:t>
            </a:r>
            <a:endParaRPr lang="tr-TR" dirty="0"/>
          </a:p>
          <a:p>
            <a:r>
              <a:rPr lang="tr-TR" b="1" dirty="0"/>
              <a:t>Kurumsal özellikler ücretli</a:t>
            </a:r>
            <a:endParaRPr lang="tr-TR" dirty="0"/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🟣 DATAGRIP (</a:t>
            </a:r>
            <a:r>
              <a:rPr lang="tr-TR" b="1" dirty="0" err="1"/>
              <a:t>JetBrains</a:t>
            </a:r>
            <a:r>
              <a:rPr lang="tr-TR" b="1" dirty="0"/>
              <a:t>) – Avantaj &amp; Dezavantajlar</a:t>
            </a:r>
          </a:p>
          <a:p>
            <a:r>
              <a:rPr lang="tr-TR" b="1" dirty="0"/>
              <a:t>✅ Avantajları</a:t>
            </a:r>
          </a:p>
          <a:p>
            <a:r>
              <a:rPr lang="tr-TR" b="1" dirty="0"/>
              <a:t>En güçlü SQL IDE</a:t>
            </a:r>
            <a:endParaRPr lang="tr-TR" dirty="0"/>
          </a:p>
          <a:p>
            <a:r>
              <a:rPr lang="tr-TR" b="1" dirty="0"/>
              <a:t>Akıllı kod tamamlama</a:t>
            </a:r>
            <a:endParaRPr lang="tr-TR" dirty="0"/>
          </a:p>
          <a:p>
            <a:r>
              <a:rPr lang="tr-TR" b="1" dirty="0"/>
              <a:t>Query </a:t>
            </a:r>
            <a:r>
              <a:rPr lang="tr-TR" b="1" dirty="0" err="1"/>
              <a:t>refactoring</a:t>
            </a:r>
            <a:endParaRPr lang="tr-TR" dirty="0"/>
          </a:p>
          <a:p>
            <a:r>
              <a:rPr lang="tr-TR" b="1" dirty="0"/>
              <a:t>Versiyon kontrol (Git) entegrasyonu</a:t>
            </a:r>
            <a:endParaRPr lang="tr-TR" dirty="0"/>
          </a:p>
          <a:p>
            <a:r>
              <a:rPr lang="tr-TR" b="1" dirty="0"/>
              <a:t>Profesyonel geliştiriciler için ideal</a:t>
            </a:r>
            <a:endParaRPr lang="tr-TR" dirty="0"/>
          </a:p>
          <a:p>
            <a:r>
              <a:rPr lang="tr-TR" b="1" dirty="0"/>
              <a:t>❌ Dezavantajları</a:t>
            </a:r>
          </a:p>
          <a:p>
            <a:r>
              <a:rPr lang="tr-TR" b="1" dirty="0"/>
              <a:t>Ücretli (abonelik)</a:t>
            </a:r>
            <a:endParaRPr lang="tr-TR" dirty="0"/>
          </a:p>
          <a:p>
            <a:r>
              <a:rPr lang="tr-TR" b="1" dirty="0"/>
              <a:t>GUI odaklı değil</a:t>
            </a:r>
            <a:endParaRPr lang="tr-TR" dirty="0"/>
          </a:p>
          <a:p>
            <a:r>
              <a:rPr lang="tr-TR" b="1" dirty="0"/>
              <a:t>Modelleme ve senkronizasyon zayıf</a:t>
            </a:r>
            <a:endParaRPr lang="tr-TR" dirty="0"/>
          </a:p>
          <a:p>
            <a:r>
              <a:rPr lang="tr-TR" b="1" dirty="0"/>
              <a:t>Yeni başlayanlar için karmaşık</a:t>
            </a:r>
            <a:endParaRPr lang="tr-TR" dirty="0"/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🟡 HEIDISQL – Avantaj &amp; Dezavantajlar</a:t>
            </a:r>
          </a:p>
          <a:p>
            <a:r>
              <a:rPr lang="tr-TR" b="1" dirty="0"/>
              <a:t>✅ Avantajları</a:t>
            </a:r>
          </a:p>
          <a:p>
            <a:r>
              <a:rPr lang="tr-TR" b="1" dirty="0"/>
              <a:t>Tamamen ücretsiz</a:t>
            </a:r>
            <a:endParaRPr lang="tr-TR" dirty="0"/>
          </a:p>
          <a:p>
            <a:r>
              <a:rPr lang="tr-TR" b="1" dirty="0"/>
              <a:t>Hafif ve hızlı</a:t>
            </a:r>
            <a:endParaRPr lang="tr-TR" dirty="0"/>
          </a:p>
          <a:p>
            <a:r>
              <a:rPr lang="tr-TR" b="1" dirty="0"/>
              <a:t>MySQL / </a:t>
            </a:r>
            <a:r>
              <a:rPr lang="tr-TR" b="1" dirty="0" err="1"/>
              <a:t>MariaDB</a:t>
            </a:r>
            <a:r>
              <a:rPr lang="tr-TR" b="1" dirty="0"/>
              <a:t> odaklı</a:t>
            </a:r>
            <a:endParaRPr lang="tr-TR" dirty="0"/>
          </a:p>
          <a:p>
            <a:r>
              <a:rPr lang="tr-TR" b="1" dirty="0"/>
              <a:t>Düşük sistem gereksinimi</a:t>
            </a:r>
            <a:endParaRPr lang="tr-TR" dirty="0"/>
          </a:p>
          <a:p>
            <a:r>
              <a:rPr lang="tr-TR" b="1" dirty="0"/>
              <a:t>❌ Dezavantajları</a:t>
            </a:r>
          </a:p>
          <a:p>
            <a:r>
              <a:rPr lang="tr-TR" b="1" dirty="0"/>
              <a:t>Sadece Windows</a:t>
            </a:r>
            <a:endParaRPr lang="tr-TR" dirty="0"/>
          </a:p>
          <a:p>
            <a:r>
              <a:rPr lang="tr-TR" b="1" dirty="0"/>
              <a:t>Görsel modelleme yok</a:t>
            </a:r>
            <a:endParaRPr lang="tr-TR" dirty="0"/>
          </a:p>
          <a:p>
            <a:r>
              <a:rPr lang="tr-TR" b="1" dirty="0"/>
              <a:t>Senkronizasyon yok</a:t>
            </a:r>
            <a:endParaRPr lang="tr-TR" dirty="0"/>
          </a:p>
          <a:p>
            <a:r>
              <a:rPr lang="tr-TR" b="1" dirty="0"/>
              <a:t>Modern UI yok</a:t>
            </a:r>
            <a:endParaRPr lang="tr-TR" dirty="0"/>
          </a:p>
          <a:p>
            <a:r>
              <a:rPr lang="tr-TR" b="1" dirty="0"/>
              <a:t>Gelişmiş araçlar yok</a:t>
            </a:r>
            <a:endParaRPr lang="tr-TR" dirty="0"/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🟠 TABLEPLUS – Avantaj &amp; Dezavantajlar</a:t>
            </a:r>
          </a:p>
          <a:p>
            <a:r>
              <a:rPr lang="tr-TR" b="1" dirty="0"/>
              <a:t>✅ Avantajları</a:t>
            </a:r>
          </a:p>
          <a:p>
            <a:r>
              <a:rPr lang="tr-TR" b="1" dirty="0"/>
              <a:t>Çok hızlı ve minimal</a:t>
            </a:r>
            <a:endParaRPr lang="tr-TR" dirty="0"/>
          </a:p>
          <a:p>
            <a:r>
              <a:rPr lang="tr-TR" b="1" dirty="0"/>
              <a:t>Modern arayüz</a:t>
            </a:r>
            <a:endParaRPr lang="tr-TR" dirty="0"/>
          </a:p>
          <a:p>
            <a:r>
              <a:rPr lang="tr-TR" b="1" dirty="0"/>
              <a:t>MacOS kullanıcıları için ideal</a:t>
            </a:r>
            <a:endParaRPr lang="tr-TR" dirty="0"/>
          </a:p>
          <a:p>
            <a:r>
              <a:rPr lang="tr-TR" b="1" dirty="0"/>
              <a:t>Kolay bağlantı yönetimi</a:t>
            </a:r>
            <a:endParaRPr lang="tr-TR" dirty="0"/>
          </a:p>
          <a:p>
            <a:r>
              <a:rPr lang="tr-TR" b="1" dirty="0"/>
              <a:t>❌ Dezavantajları</a:t>
            </a:r>
          </a:p>
          <a:p>
            <a:r>
              <a:rPr lang="tr-TR" b="1" dirty="0"/>
              <a:t>Ücretli</a:t>
            </a:r>
            <a:endParaRPr lang="tr-TR" dirty="0"/>
          </a:p>
          <a:p>
            <a:r>
              <a:rPr lang="tr-TR" b="1" dirty="0"/>
              <a:t>Gelişmiş senkronizasyon yok</a:t>
            </a:r>
            <a:endParaRPr lang="tr-TR" dirty="0"/>
          </a:p>
          <a:p>
            <a:r>
              <a:rPr lang="tr-TR" b="1" dirty="0"/>
              <a:t>Modelleme sınırlı</a:t>
            </a:r>
            <a:endParaRPr lang="tr-TR" dirty="0"/>
          </a:p>
          <a:p>
            <a:r>
              <a:rPr lang="tr-TR" b="1" dirty="0"/>
              <a:t>Enterprise ihtiyaçlara uygun değil</a:t>
            </a:r>
            <a:endParaRPr lang="tr-TR" dirty="0"/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🔴 DBVISUALIZER – Avantaj &amp; Dezavantajlar</a:t>
            </a:r>
          </a:p>
          <a:p>
            <a:r>
              <a:rPr lang="tr-TR" b="1" dirty="0"/>
              <a:t>✅ Avantajları</a:t>
            </a:r>
          </a:p>
          <a:p>
            <a:r>
              <a:rPr lang="tr-TR" b="1" dirty="0"/>
              <a:t>Kurumsal kullanım odaklı</a:t>
            </a:r>
            <a:endParaRPr lang="tr-TR" dirty="0"/>
          </a:p>
          <a:p>
            <a:r>
              <a:rPr lang="tr-TR" b="1" dirty="0"/>
              <a:t>Çoklu DB desteği</a:t>
            </a:r>
            <a:endParaRPr lang="tr-TR" dirty="0"/>
          </a:p>
          <a:p>
            <a:r>
              <a:rPr lang="tr-TR" b="1" dirty="0"/>
              <a:t>Güçlü SQL editörü</a:t>
            </a:r>
            <a:endParaRPr lang="tr-TR" dirty="0"/>
          </a:p>
          <a:p>
            <a:r>
              <a:rPr lang="tr-TR" b="1" dirty="0"/>
              <a:t>Gelişmiş analiz araçları</a:t>
            </a:r>
            <a:endParaRPr lang="tr-TR" dirty="0"/>
          </a:p>
          <a:p>
            <a:r>
              <a:rPr lang="tr-TR" b="1" dirty="0"/>
              <a:t>❌ Dezavantajları</a:t>
            </a:r>
          </a:p>
          <a:p>
            <a:r>
              <a:rPr lang="tr-TR" b="1" dirty="0"/>
              <a:t>Ücretli</a:t>
            </a:r>
            <a:endParaRPr lang="tr-TR" dirty="0"/>
          </a:p>
          <a:p>
            <a:r>
              <a:rPr lang="tr-TR" b="1" dirty="0"/>
              <a:t>Arayüz </a:t>
            </a:r>
            <a:r>
              <a:rPr lang="tr-TR" b="1" dirty="0" err="1"/>
              <a:t>Navicat</a:t>
            </a:r>
            <a:r>
              <a:rPr lang="tr-TR" b="1" dirty="0"/>
              <a:t> kadar kullanıcı dostu değil</a:t>
            </a:r>
            <a:endParaRPr lang="tr-TR" dirty="0"/>
          </a:p>
          <a:p>
            <a:r>
              <a:rPr lang="tr-TR" b="1" dirty="0"/>
              <a:t>Öğrenme eğrisi yüksek</a:t>
            </a:r>
            <a:endParaRPr lang="tr-TR" dirty="0"/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📊 KISA KIYAS TABLOSU (Avantaj / Dezavantaj Odaklı)</a:t>
            </a:r>
          </a:p>
          <a:p>
            <a:r>
              <a:rPr lang="tr-TR" dirty="0" err="1"/>
              <a:t>AraçEn</a:t>
            </a:r>
            <a:r>
              <a:rPr lang="tr-TR" dirty="0"/>
              <a:t> Güçlü </a:t>
            </a:r>
            <a:r>
              <a:rPr lang="tr-TR" dirty="0" err="1"/>
              <a:t>YönüEn</a:t>
            </a:r>
            <a:r>
              <a:rPr lang="tr-TR" dirty="0"/>
              <a:t> Zayıf </a:t>
            </a:r>
            <a:r>
              <a:rPr lang="tr-TR" dirty="0" err="1"/>
              <a:t>Yönü</a:t>
            </a:r>
            <a:r>
              <a:rPr lang="tr-TR" b="1" dirty="0" err="1"/>
              <a:t>Navicat</a:t>
            </a:r>
            <a:r>
              <a:rPr lang="tr-TR" dirty="0" err="1"/>
              <a:t>Hepsi</a:t>
            </a:r>
            <a:r>
              <a:rPr lang="tr-TR" dirty="0"/>
              <a:t> bir arada, görsel, </a:t>
            </a:r>
            <a:r>
              <a:rPr lang="tr-TR" dirty="0" err="1"/>
              <a:t>senkronizasyonÜcretli</a:t>
            </a:r>
            <a:r>
              <a:rPr lang="tr-TR" b="1" dirty="0" err="1"/>
              <a:t>DBeaver</a:t>
            </a:r>
            <a:r>
              <a:rPr lang="tr-TR" dirty="0" err="1"/>
              <a:t>Ücretsiz</a:t>
            </a:r>
            <a:r>
              <a:rPr lang="tr-TR" dirty="0"/>
              <a:t> &amp; açık </a:t>
            </a:r>
            <a:r>
              <a:rPr lang="tr-TR" dirty="0" err="1"/>
              <a:t>kaynakKarmaşık</a:t>
            </a:r>
            <a:r>
              <a:rPr lang="tr-TR" dirty="0"/>
              <a:t> </a:t>
            </a:r>
            <a:r>
              <a:rPr lang="tr-TR" dirty="0" err="1"/>
              <a:t>arayüz</a:t>
            </a:r>
            <a:r>
              <a:rPr lang="tr-TR" b="1" dirty="0" err="1"/>
              <a:t>DataGrip</a:t>
            </a:r>
            <a:r>
              <a:rPr lang="tr-TR" dirty="0" err="1"/>
              <a:t>SQL</a:t>
            </a:r>
            <a:r>
              <a:rPr lang="tr-TR" dirty="0"/>
              <a:t> yazma &amp; IDE </a:t>
            </a:r>
            <a:r>
              <a:rPr lang="tr-TR" dirty="0" err="1"/>
              <a:t>gücüGUI</a:t>
            </a:r>
            <a:r>
              <a:rPr lang="tr-TR" dirty="0"/>
              <a:t> </a:t>
            </a:r>
            <a:r>
              <a:rPr lang="tr-TR" dirty="0" err="1"/>
              <a:t>zayıf</a:t>
            </a:r>
            <a:r>
              <a:rPr lang="tr-TR" b="1" dirty="0" err="1"/>
              <a:t>HeidiSQL</a:t>
            </a:r>
            <a:r>
              <a:rPr lang="tr-TR" dirty="0" err="1"/>
              <a:t>Hafif</a:t>
            </a:r>
            <a:r>
              <a:rPr lang="tr-TR" dirty="0"/>
              <a:t> &amp; </a:t>
            </a:r>
            <a:r>
              <a:rPr lang="tr-TR" dirty="0" err="1"/>
              <a:t>ücretsizÖzellik</a:t>
            </a:r>
            <a:r>
              <a:rPr lang="tr-TR" dirty="0"/>
              <a:t> </a:t>
            </a:r>
            <a:r>
              <a:rPr lang="tr-TR" dirty="0" err="1"/>
              <a:t>fakiri</a:t>
            </a:r>
            <a:r>
              <a:rPr lang="tr-TR" b="1" dirty="0" err="1"/>
              <a:t>TablePlus</a:t>
            </a:r>
            <a:r>
              <a:rPr lang="tr-TR" dirty="0" err="1"/>
              <a:t>Hız</a:t>
            </a:r>
            <a:r>
              <a:rPr lang="tr-TR" dirty="0"/>
              <a:t> &amp; sade </a:t>
            </a:r>
            <a:r>
              <a:rPr lang="tr-TR" dirty="0" err="1"/>
              <a:t>UIEnterprise</a:t>
            </a:r>
            <a:r>
              <a:rPr lang="tr-TR" dirty="0"/>
              <a:t> </a:t>
            </a:r>
            <a:r>
              <a:rPr lang="tr-TR" dirty="0" err="1"/>
              <a:t>zayıf</a:t>
            </a:r>
            <a:r>
              <a:rPr lang="tr-TR" b="1" dirty="0" err="1"/>
              <a:t>DbVisualizer</a:t>
            </a:r>
            <a:r>
              <a:rPr lang="tr-TR" dirty="0" err="1"/>
              <a:t>Kurumsal</a:t>
            </a:r>
            <a:r>
              <a:rPr lang="tr-TR" dirty="0"/>
              <a:t> </a:t>
            </a:r>
            <a:r>
              <a:rPr lang="tr-TR" dirty="0" err="1"/>
              <a:t>çözümlerÖğrenmesi</a:t>
            </a:r>
            <a:r>
              <a:rPr lang="tr-TR" dirty="0"/>
              <a:t> zor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🎯 HANGİSİ KİM İÇİN?</a:t>
            </a:r>
          </a:p>
          <a:p>
            <a:r>
              <a:rPr lang="tr-TR" b="1" dirty="0"/>
              <a:t>Öğrenci / Yeni başlayan</a:t>
            </a:r>
            <a:r>
              <a:rPr lang="tr-TR" dirty="0"/>
              <a:t> → </a:t>
            </a:r>
            <a:r>
              <a:rPr lang="tr-TR" b="1" dirty="0" err="1"/>
              <a:t>Navicat</a:t>
            </a:r>
            <a:r>
              <a:rPr lang="tr-TR" b="1" dirty="0"/>
              <a:t> / </a:t>
            </a:r>
            <a:r>
              <a:rPr lang="tr-TR" b="1" dirty="0" err="1"/>
              <a:t>DBeaver</a:t>
            </a:r>
            <a:endParaRPr lang="tr-TR" dirty="0"/>
          </a:p>
          <a:p>
            <a:r>
              <a:rPr lang="tr-TR" b="1" dirty="0"/>
              <a:t>PHP + MySQL geliştirici</a:t>
            </a:r>
            <a:r>
              <a:rPr lang="tr-TR" dirty="0"/>
              <a:t> → </a:t>
            </a:r>
            <a:r>
              <a:rPr lang="tr-TR" b="1" dirty="0" err="1"/>
              <a:t>Navicat</a:t>
            </a:r>
            <a:endParaRPr lang="tr-TR" dirty="0"/>
          </a:p>
          <a:p>
            <a:r>
              <a:rPr lang="tr-TR" b="1" dirty="0"/>
              <a:t>Saf SQL &amp; </a:t>
            </a:r>
            <a:r>
              <a:rPr lang="tr-TR" b="1" dirty="0" err="1"/>
              <a:t>Backend</a:t>
            </a:r>
            <a:r>
              <a:rPr lang="tr-TR" b="1" dirty="0"/>
              <a:t> </a:t>
            </a:r>
            <a:r>
              <a:rPr lang="tr-TR" b="1" dirty="0" err="1"/>
              <a:t>developer</a:t>
            </a:r>
            <a:r>
              <a:rPr lang="tr-TR" dirty="0"/>
              <a:t> → </a:t>
            </a:r>
            <a:r>
              <a:rPr lang="tr-TR" b="1" dirty="0" err="1"/>
              <a:t>DataGrip</a:t>
            </a:r>
            <a:endParaRPr lang="tr-TR" dirty="0"/>
          </a:p>
          <a:p>
            <a:r>
              <a:rPr lang="tr-TR" b="1" dirty="0"/>
              <a:t>Basit ve hızlı işler</a:t>
            </a:r>
            <a:r>
              <a:rPr lang="tr-TR" dirty="0"/>
              <a:t> → </a:t>
            </a:r>
            <a:r>
              <a:rPr lang="tr-TR" b="1" dirty="0" err="1"/>
              <a:t>HeidiSQL</a:t>
            </a:r>
            <a:endParaRPr lang="tr-TR" dirty="0"/>
          </a:p>
          <a:p>
            <a:r>
              <a:rPr lang="tr-TR" b="1" dirty="0"/>
              <a:t>MacOS + hafif kullanım</a:t>
            </a:r>
            <a:r>
              <a:rPr lang="tr-TR" dirty="0"/>
              <a:t> → </a:t>
            </a:r>
            <a:r>
              <a:rPr lang="tr-TR" b="1" dirty="0" err="1"/>
              <a:t>TablePlus</a:t>
            </a:r>
            <a:endParaRPr lang="tr-TR" dirty="0"/>
          </a:p>
          <a:p>
            <a:r>
              <a:rPr lang="tr-TR" b="1" dirty="0"/>
              <a:t>Kurumsal DB admin</a:t>
            </a:r>
            <a:r>
              <a:rPr lang="tr-TR" dirty="0"/>
              <a:t> → </a:t>
            </a:r>
            <a:r>
              <a:rPr lang="tr-TR" b="1" dirty="0" err="1"/>
              <a:t>DbVisualizer</a:t>
            </a:r>
            <a:endParaRPr lang="tr-TR" dirty="0"/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767-E8DB-416A-A8FF-889E77A1D286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21134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>
                <a:latin typeface="Times New Roman" panose="02020603050405020304" pitchFamily="18" charset="0"/>
                <a:cs typeface="Times New Roman" panose="02020603050405020304" pitchFamily="18" charset="0"/>
              </a:rPr>
              <a:t>devnanotek.github.io/ders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767-E8DB-416A-A8FF-889E77A1D286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1724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B9C91C8-2DFA-E3BE-63AF-FDDB2D69C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2FBB37D-2D8C-429B-5517-050A0A646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BA5D701-D6B8-9923-C281-67BC2DCF5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9052-C667-4638-860E-63EAF7CD9E14}" type="datetimeFigureOut">
              <a:rPr lang="tr-TR" smtClean="0"/>
              <a:t>12.12.2025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8898198-8984-12D5-1FAB-8D0668EC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9A9E557-045C-2714-E989-1ED4745D4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1E7F8-8558-4745-B657-29C4937812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7437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A5EC224-34DF-E941-C42C-DE4B375A5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724014F-7082-4B53-8580-B67A697F5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223C018-63C1-3355-B524-BA514CB8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9052-C667-4638-860E-63EAF7CD9E14}" type="datetimeFigureOut">
              <a:rPr lang="tr-TR" smtClean="0"/>
              <a:t>12.12.2025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82940C9-72C2-4D21-3E54-FE2189BC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1361343-6739-2BA1-3E3B-7F5DC53C4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1E7F8-8558-4745-B657-29C4937812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747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CAF2AA0-6F36-0F62-1E2B-C5AADCD2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E997C24-19C4-6ACD-106A-BCE0C4733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812E8FC-F42C-453E-A746-1E91C614E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9052-C667-4638-860E-63EAF7CD9E14}" type="datetimeFigureOut">
              <a:rPr lang="tr-TR" smtClean="0"/>
              <a:t>12.12.2025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DC20C36-B5D8-F5F8-4C37-6C5417001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0D15A2D-5F86-A55C-FBC9-A3642BFFF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1E7F8-8558-4745-B657-29C4937812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9083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5195E87-B90B-D7B0-21A1-B4623119A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9DDA826-1EEA-529D-97ED-A63047E523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AC4A49D-E8FE-D44C-DE13-8CBE93693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AF36745-2283-18AF-9F4A-1CF9FBB0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9052-C667-4638-860E-63EAF7CD9E14}" type="datetimeFigureOut">
              <a:rPr lang="tr-TR" smtClean="0"/>
              <a:t>12.12.2025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532A116-8682-30F2-630A-E169C1138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5767538-FDDE-277A-091C-B9AEAFE10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1E7F8-8558-4745-B657-29C4937812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4740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BEB046D-2B03-C385-73B8-6441BA3D7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56F25B0-BF52-621D-DF32-CF2D8BF7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942869A-7CE1-76F7-513A-B0C49F964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7A337D9-7A28-C39B-CC00-99ADF7EB2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379BA98-E26D-FA48-B054-94B55FAF56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66042D2E-5CDD-D5E7-7B20-543349C84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9052-C667-4638-860E-63EAF7CD9E14}" type="datetimeFigureOut">
              <a:rPr lang="tr-TR" smtClean="0"/>
              <a:t>12.12.2025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BFFF57B6-3BB1-51D0-302E-4D968DB6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E09BF9DD-EBC4-59AF-C442-AE678678A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1E7F8-8558-4745-B657-29C4937812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0995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D7CE93-CA3D-0D56-13CC-1DF0B9B0D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E0E62F15-39A7-6D65-FE20-D053A8517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9052-C667-4638-860E-63EAF7CD9E14}" type="datetimeFigureOut">
              <a:rPr lang="tr-TR" smtClean="0"/>
              <a:t>12.12.2025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F90A4C6-CB05-8FBF-B90C-C32EAA6C0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DFC03E3F-833F-F045-011F-06C1F65B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1E7F8-8558-4745-B657-29C4937812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15404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65B2AE6-445F-5DAE-C597-8971589F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9052-C667-4638-860E-63EAF7CD9E14}" type="datetimeFigureOut">
              <a:rPr lang="tr-TR" smtClean="0"/>
              <a:t>12.12.2025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A8EB80E-6824-838A-423F-A495269C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05E9962-EAA9-469C-FA78-97FDA82E0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1E7F8-8558-4745-B657-29C4937812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83670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A4403D8-C4A3-BFC2-B027-6638C6992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9382780-022F-4E41-A75C-0E393B239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47D0029-73B4-7292-9AB3-E83B6588E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23DEB2F-6477-1936-84BB-7C89727FF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9052-C667-4638-860E-63EAF7CD9E14}" type="datetimeFigureOut">
              <a:rPr lang="tr-TR" smtClean="0"/>
              <a:t>12.12.2025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C991586-A9CE-9D46-237D-17DBE38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4E1DC76-FC04-EE04-26F7-AD3C08EA2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1E7F8-8558-4745-B657-29C4937812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5078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BBBB1DE-D84E-BD1A-C612-D9C82AA3D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C740D8A1-A565-A416-23DB-8410EB330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2A09FC2-01CA-54E2-597C-180CD88BD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16A32C9-5A0B-2856-44EE-277618831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9052-C667-4638-860E-63EAF7CD9E14}" type="datetimeFigureOut">
              <a:rPr lang="tr-TR" smtClean="0"/>
              <a:t>12.12.2025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6F17DCE-A49D-F226-2996-37CA0AE1C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D012F27-85D4-C551-EF1D-A778CAB44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1E7F8-8558-4745-B657-29C4937812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54119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6BFC3CB-EBEA-C2A7-3ADC-E3E48A66C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E4283DB-A9AD-B91C-4E4F-3DD4BA5FE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E9120FC-CF34-7806-E1DA-AECE00006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9052-C667-4638-860E-63EAF7CD9E14}" type="datetimeFigureOut">
              <a:rPr lang="tr-TR" smtClean="0"/>
              <a:t>12.12.2025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1FB233D-4443-2CD0-9C2B-7EC007C8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01F02BF-06A1-9966-96B5-135569853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1E7F8-8558-4745-B657-29C4937812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93089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A6540774-B891-255A-3808-517C575F94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DE24539-70B4-C1E5-9ABE-EC966E6F8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1B4ADF2-52B8-F0B1-394B-97D3DA7B6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9052-C667-4638-860E-63EAF7CD9E14}" type="datetimeFigureOut">
              <a:rPr lang="tr-TR" smtClean="0"/>
              <a:t>12.12.2025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EFDC90F-1D03-8FA1-6989-912149819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F75E71F-189B-AEB6-692A-5818FA33E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1E7F8-8558-4745-B657-29C4937812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8064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C953B533-B02B-8D26-0230-73106323C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F1E9FE6-32E0-E170-EB9A-6EA7337E4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F9AF8C9-5203-CE25-4180-B4F8B39FE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A9052-C667-4638-860E-63EAF7CD9E14}" type="datetimeFigureOut">
              <a:rPr lang="tr-TR" smtClean="0"/>
              <a:t>12.12.2025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F1C11F6-0C17-D986-BCB3-4F172D5FE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76B8A30-7A75-82C4-2712-41776F2A2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1E7F8-8558-4745-B657-29C4937812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47639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jp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ikdörtgen 17">
            <a:extLst>
              <a:ext uri="{FF2B5EF4-FFF2-40B4-BE49-F238E27FC236}">
                <a16:creationId xmlns:a16="http://schemas.microsoft.com/office/drawing/2014/main" id="{CDB4786E-7E05-416E-4481-6BDEA722065C}"/>
              </a:ext>
            </a:extLst>
          </p:cNvPr>
          <p:cNvSpPr/>
          <p:nvPr/>
        </p:nvSpPr>
        <p:spPr>
          <a:xfrm>
            <a:off x="4600280" y="3225144"/>
            <a:ext cx="7711126" cy="131975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85B5D3B9-B60C-DACB-D794-76C458AAB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99705" y="6346596"/>
            <a:ext cx="3292295" cy="365289"/>
          </a:xfrm>
        </p:spPr>
        <p:txBody>
          <a:bodyPr/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HAZIRLAYAN : İslam ERGÜN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682624CB-5A87-4F45-BAAB-C6EFB0051E09}"/>
              </a:ext>
            </a:extLst>
          </p:cNvPr>
          <p:cNvSpPr/>
          <p:nvPr/>
        </p:nvSpPr>
        <p:spPr>
          <a:xfrm>
            <a:off x="5144949" y="3423355"/>
            <a:ext cx="56740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KONU : NAVİCAT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B5935073-6646-ECA2-21BC-524CB7D64B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536" y="221136"/>
            <a:ext cx="3766402" cy="376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628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832E1F2-EFD6-5777-F997-DD118C450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94073" y="1934852"/>
            <a:ext cx="3932237" cy="2231795"/>
          </a:xfrm>
        </p:spPr>
        <p:txBody>
          <a:bodyPr>
            <a:normAutofit/>
          </a:bodyPr>
          <a:lstStyle/>
          <a:p>
            <a:pPr algn="ctr"/>
            <a:r>
              <a:rPr lang="tr-T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algn="ctr"/>
            <a:r>
              <a:rPr lang="tr-T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</a:t>
            </a:r>
          </a:p>
          <a:p>
            <a:pPr algn="ctr"/>
            <a:r>
              <a:rPr lang="tr-T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4E1481CE-8230-2F64-DF94-F8D48105C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27" y="623708"/>
            <a:ext cx="3500111" cy="2622288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D476BA09-DE4E-7C9F-BE5E-EBD5DF0DFD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735" y="3676453"/>
            <a:ext cx="4214828" cy="237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462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kdörtgen 7">
            <a:extLst>
              <a:ext uri="{FF2B5EF4-FFF2-40B4-BE49-F238E27FC236}">
                <a16:creationId xmlns:a16="http://schemas.microsoft.com/office/drawing/2014/main" id="{097210F9-7890-DE40-77D6-74F821D1B4B0}"/>
              </a:ext>
            </a:extLst>
          </p:cNvPr>
          <p:cNvSpPr/>
          <p:nvPr/>
        </p:nvSpPr>
        <p:spPr>
          <a:xfrm>
            <a:off x="-94268" y="452487"/>
            <a:ext cx="4553144" cy="78242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7C203CE-95A5-E626-0E76-B25CB5CF8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95" y="365287"/>
            <a:ext cx="4373235" cy="765928"/>
          </a:xfrm>
        </p:spPr>
        <p:txBody>
          <a:bodyPr/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VERİTABANI NEDİR ?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A6CA693-06FE-CF05-1BD2-6CF5B8100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9288" y="1388097"/>
            <a:ext cx="3932237" cy="3811588"/>
          </a:xfrm>
        </p:spPr>
        <p:txBody>
          <a:bodyPr/>
          <a:lstStyle/>
          <a:p>
            <a:r>
              <a:rPr lang="tr-TR" dirty="0"/>
              <a:t>Verilerin </a:t>
            </a:r>
            <a:r>
              <a:rPr lang="tr-TR" b="1" dirty="0"/>
              <a:t>düzenli, güvenli ve hızlı erişilebilir şekilde</a:t>
            </a:r>
            <a:r>
              <a:rPr lang="tr-TR" dirty="0"/>
              <a:t> saklandığı yapıdır.</a:t>
            </a:r>
          </a:p>
          <a:p>
            <a:br>
              <a:rPr lang="tr-TR" dirty="0"/>
            </a:br>
            <a:r>
              <a:rPr lang="tr-TR" b="1" dirty="0"/>
              <a:t>Örnek: </a:t>
            </a:r>
            <a:r>
              <a:rPr lang="tr-TR" dirty="0"/>
              <a:t>MySQL, </a:t>
            </a:r>
            <a:r>
              <a:rPr lang="tr-TR" dirty="0" err="1"/>
              <a:t>PostgreSQL</a:t>
            </a:r>
            <a:r>
              <a:rPr lang="tr-TR" dirty="0"/>
              <a:t>, Oracle, </a:t>
            </a:r>
            <a:r>
              <a:rPr lang="tr-TR" dirty="0" err="1"/>
              <a:t>MongoDB</a:t>
            </a:r>
            <a:r>
              <a:rPr lang="tr-TR" dirty="0"/>
              <a:t>.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191F7129-61BE-FDC5-2EED-180E7DB3E4FA}"/>
              </a:ext>
            </a:extLst>
          </p:cNvPr>
          <p:cNvCxnSpPr/>
          <p:nvPr/>
        </p:nvCxnSpPr>
        <p:spPr>
          <a:xfrm>
            <a:off x="4992523" y="0"/>
            <a:ext cx="0" cy="6858000"/>
          </a:xfrm>
          <a:prstGeom prst="line">
            <a:avLst/>
          </a:prstGeom>
          <a:ln w="508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7" name="Resim 6">
            <a:extLst>
              <a:ext uri="{FF2B5EF4-FFF2-40B4-BE49-F238E27FC236}">
                <a16:creationId xmlns:a16="http://schemas.microsoft.com/office/drawing/2014/main" id="{773BD8D5-40CE-5FDE-6FBA-B2D1F2510D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783" y="1190314"/>
            <a:ext cx="6784448" cy="4207153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6AE8A046-0B9C-6D08-3E95-2A86A2E2C9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36" y="3642683"/>
            <a:ext cx="3971552" cy="134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3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>
            <a:extLst>
              <a:ext uri="{FF2B5EF4-FFF2-40B4-BE49-F238E27FC236}">
                <a16:creationId xmlns:a16="http://schemas.microsoft.com/office/drawing/2014/main" id="{365D40FA-02F5-3BAD-C3AC-ED768183528C}"/>
              </a:ext>
            </a:extLst>
          </p:cNvPr>
          <p:cNvSpPr/>
          <p:nvPr/>
        </p:nvSpPr>
        <p:spPr>
          <a:xfrm>
            <a:off x="6826576" y="556967"/>
            <a:ext cx="5456657" cy="54596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A7B9F555-A9FE-6423-6DF0-02E3E42E14D5}"/>
              </a:ext>
            </a:extLst>
          </p:cNvPr>
          <p:cNvSpPr/>
          <p:nvPr/>
        </p:nvSpPr>
        <p:spPr>
          <a:xfrm>
            <a:off x="-94269" y="584461"/>
            <a:ext cx="5456657" cy="54596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15C2385-B922-895D-127F-6C4D3ACC6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28" y="345650"/>
            <a:ext cx="5082620" cy="784781"/>
          </a:xfrm>
        </p:spPr>
        <p:txBody>
          <a:bodyPr>
            <a:normAutofit fontScale="90000"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 (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0116333-EF48-FF1C-CADC-E33B65218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0328" y="1203472"/>
            <a:ext cx="5259511" cy="2529542"/>
          </a:xfrm>
        </p:spPr>
        <p:txBody>
          <a:bodyPr/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Komut satırında çalışan, tamamen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yazı tabanlı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arayüzdür.</a:t>
            </a:r>
            <a:b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Örn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Terminal,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PowerShell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MySQL CLI.</a:t>
            </a:r>
          </a:p>
          <a:p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Özellikleri: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Hızlıdır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Daha az kaynak tüketir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İleri seviye kullanıcı için esnektir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Öğrenmesi zordur</a:t>
            </a:r>
          </a:p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Başlık 1">
            <a:extLst>
              <a:ext uri="{FF2B5EF4-FFF2-40B4-BE49-F238E27FC236}">
                <a16:creationId xmlns:a16="http://schemas.microsoft.com/office/drawing/2014/main" id="{B224EC22-687C-5E2E-0FFA-6D8322E04195}"/>
              </a:ext>
            </a:extLst>
          </p:cNvPr>
          <p:cNvSpPr txBox="1">
            <a:spLocks/>
          </p:cNvSpPr>
          <p:nvPr/>
        </p:nvSpPr>
        <p:spPr>
          <a:xfrm>
            <a:off x="7026116" y="379809"/>
            <a:ext cx="5165884" cy="7297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(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Graphical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Metin Yer Tutucusu 3">
            <a:extLst>
              <a:ext uri="{FF2B5EF4-FFF2-40B4-BE49-F238E27FC236}">
                <a16:creationId xmlns:a16="http://schemas.microsoft.com/office/drawing/2014/main" id="{76C59DEF-3BC5-8113-134D-44D723D8812B}"/>
              </a:ext>
            </a:extLst>
          </p:cNvPr>
          <p:cNvSpPr txBox="1">
            <a:spLocks/>
          </p:cNvSpPr>
          <p:nvPr/>
        </p:nvSpPr>
        <p:spPr>
          <a:xfrm>
            <a:off x="6322785" y="1203472"/>
            <a:ext cx="5385306" cy="2225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Buton, form, ikon gibi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grafiksel öğelerle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kullanılan arayüzdür.</a:t>
            </a:r>
            <a:b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Örn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Navicat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phpMyAdmin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Windows,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Özellikleri: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Kullanımı kolay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Öğrenmesi hızlı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CLI’ye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göre daha fazla sistem kaynağı kullanır</a:t>
            </a:r>
          </a:p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Düz Bağlayıcı 6">
            <a:extLst>
              <a:ext uri="{FF2B5EF4-FFF2-40B4-BE49-F238E27FC236}">
                <a16:creationId xmlns:a16="http://schemas.microsoft.com/office/drawing/2014/main" id="{98B21866-A157-D4E5-C7FC-17E52554922B}"/>
              </a:ext>
            </a:extLst>
          </p:cNvPr>
          <p:cNvCxnSpPr/>
          <p:nvPr/>
        </p:nvCxnSpPr>
        <p:spPr>
          <a:xfrm>
            <a:off x="5869216" y="65988"/>
            <a:ext cx="0" cy="6858000"/>
          </a:xfrm>
          <a:prstGeom prst="line">
            <a:avLst/>
          </a:prstGeom>
          <a:ln w="508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9" name="Resim 8">
            <a:extLst>
              <a:ext uri="{FF2B5EF4-FFF2-40B4-BE49-F238E27FC236}">
                <a16:creationId xmlns:a16="http://schemas.microsoft.com/office/drawing/2014/main" id="{3B230079-048F-0437-E382-FA0F53AD44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28" y="3733014"/>
            <a:ext cx="3496374" cy="1833513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7DA016E1-976D-BA0A-436C-B652BC5625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0" y="3713476"/>
            <a:ext cx="3664275" cy="3078536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D5F4E049-AD1A-6D4F-1DAF-58F483D3CB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893" y="4260916"/>
            <a:ext cx="4633382" cy="2489868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0888C5FA-DAA6-DCE3-441A-7C77E93105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152" y="3733014"/>
            <a:ext cx="3185951" cy="2225529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B5C98647-2F1F-C881-29EC-7C6AC9F9D0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166" y="3124986"/>
            <a:ext cx="2944109" cy="209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23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2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D4A96E7E-0C3D-4BB7-C5EC-573B31F8AC7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4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82729"/>
            <a:ext cx="3511729" cy="3511729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830D616A-019E-7CB5-98B0-C71B4F2FB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08" y="400888"/>
            <a:ext cx="3932237" cy="897903"/>
          </a:xfrm>
        </p:spPr>
        <p:txBody>
          <a:bodyPr/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NAVİCAT NEDİR ?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4840C04B-EB41-5297-E022-B0ADF13503CA}"/>
              </a:ext>
            </a:extLst>
          </p:cNvPr>
          <p:cNvSpPr txBox="1"/>
          <p:nvPr/>
        </p:nvSpPr>
        <p:spPr>
          <a:xfrm>
            <a:off x="179546" y="1303494"/>
            <a:ext cx="39322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Navicat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veritabanlarını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grafiksel arayüzle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yönetmeyi sağlayan bir </a:t>
            </a: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veritabanı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yönetim aracıdır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FC2BD6F5-F9F7-B882-7EDD-D1484C4CD0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025" y="160256"/>
            <a:ext cx="5404862" cy="3775538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63B06B10-4B18-0BDF-BD91-BC58481450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745" y="2900265"/>
            <a:ext cx="5113987" cy="3632512"/>
          </a:xfrm>
          <a:prstGeom prst="rect">
            <a:avLst/>
          </a:prstGeom>
        </p:spPr>
      </p:pic>
      <p:cxnSp>
        <p:nvCxnSpPr>
          <p:cNvPr id="12" name="Düz Bağlayıcı 11">
            <a:extLst>
              <a:ext uri="{FF2B5EF4-FFF2-40B4-BE49-F238E27FC236}">
                <a16:creationId xmlns:a16="http://schemas.microsoft.com/office/drawing/2014/main" id="{C59D59BA-28D1-F901-4DA5-C6264B6283B3}"/>
              </a:ext>
            </a:extLst>
          </p:cNvPr>
          <p:cNvCxnSpPr/>
          <p:nvPr/>
        </p:nvCxnSpPr>
        <p:spPr>
          <a:xfrm>
            <a:off x="4628561" y="0"/>
            <a:ext cx="0" cy="6858000"/>
          </a:xfrm>
          <a:prstGeom prst="line">
            <a:avLst/>
          </a:prstGeom>
          <a:ln w="508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6" name="Resim 15">
            <a:extLst>
              <a:ext uri="{FF2B5EF4-FFF2-40B4-BE49-F238E27FC236}">
                <a16:creationId xmlns:a16="http://schemas.microsoft.com/office/drawing/2014/main" id="{F95F353B-24DF-4188-34FE-35619CD8EC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08" y="3542037"/>
            <a:ext cx="3971552" cy="1343319"/>
          </a:xfrm>
          <a:prstGeom prst="rect">
            <a:avLst/>
          </a:prstGeom>
        </p:spPr>
      </p:pic>
      <p:sp>
        <p:nvSpPr>
          <p:cNvPr id="18" name="Dikdörtgen 17">
            <a:extLst>
              <a:ext uri="{FF2B5EF4-FFF2-40B4-BE49-F238E27FC236}">
                <a16:creationId xmlns:a16="http://schemas.microsoft.com/office/drawing/2014/main" id="{8D5586D6-2F70-6913-DEF7-A31765991909}"/>
              </a:ext>
            </a:extLst>
          </p:cNvPr>
          <p:cNvSpPr/>
          <p:nvPr/>
        </p:nvSpPr>
        <p:spPr>
          <a:xfrm>
            <a:off x="-216816" y="2868185"/>
            <a:ext cx="3511729" cy="459477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B6EF6D6C-2F35-BCF8-91F1-F717E9D7B1FD}"/>
              </a:ext>
            </a:extLst>
          </p:cNvPr>
          <p:cNvSpPr txBox="1"/>
          <p:nvPr/>
        </p:nvSpPr>
        <p:spPr>
          <a:xfrm>
            <a:off x="166562" y="2915320"/>
            <a:ext cx="3010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Çoklu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veritabanı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desteği sunar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40DD630F-0931-C784-58B6-E1163794CA9A}"/>
              </a:ext>
            </a:extLst>
          </p:cNvPr>
          <p:cNvSpPr/>
          <p:nvPr/>
        </p:nvSpPr>
        <p:spPr>
          <a:xfrm>
            <a:off x="-216816" y="5095029"/>
            <a:ext cx="3511729" cy="459477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ADF1FF7A-C256-6F24-AAD9-0CB68663450A}"/>
              </a:ext>
            </a:extLst>
          </p:cNvPr>
          <p:cNvSpPr txBox="1"/>
          <p:nvPr/>
        </p:nvSpPr>
        <p:spPr>
          <a:xfrm>
            <a:off x="166562" y="5142164"/>
            <a:ext cx="288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Çoklu Platform desteği sunar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B969EFBC-972A-D101-7802-D0FCE43DB333}"/>
              </a:ext>
            </a:extLst>
          </p:cNvPr>
          <p:cNvSpPr txBox="1"/>
          <p:nvPr/>
        </p:nvSpPr>
        <p:spPr>
          <a:xfrm>
            <a:off x="11019934" y="129879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GUI</a:t>
            </a:r>
          </a:p>
        </p:txBody>
      </p:sp>
      <p:cxnSp>
        <p:nvCxnSpPr>
          <p:cNvPr id="23" name="Düz Ok Bağlayıcısı 22">
            <a:extLst>
              <a:ext uri="{FF2B5EF4-FFF2-40B4-BE49-F238E27FC236}">
                <a16:creationId xmlns:a16="http://schemas.microsoft.com/office/drawing/2014/main" id="{D2A866F8-06AF-401F-64AE-5EE45BA61898}"/>
              </a:ext>
            </a:extLst>
          </p:cNvPr>
          <p:cNvCxnSpPr>
            <a:stCxn id="21" idx="1"/>
          </p:cNvCxnSpPr>
          <p:nvPr/>
        </p:nvCxnSpPr>
        <p:spPr>
          <a:xfrm flipH="1">
            <a:off x="10595728" y="1483457"/>
            <a:ext cx="424206" cy="43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>
            <a:extLst>
              <a:ext uri="{FF2B5EF4-FFF2-40B4-BE49-F238E27FC236}">
                <a16:creationId xmlns:a16="http://schemas.microsoft.com/office/drawing/2014/main" id="{516526F4-80F5-2E8C-621D-D34C0C9BD140}"/>
              </a:ext>
            </a:extLst>
          </p:cNvPr>
          <p:cNvCxnSpPr>
            <a:stCxn id="21" idx="2"/>
          </p:cNvCxnSpPr>
          <p:nvPr/>
        </p:nvCxnSpPr>
        <p:spPr>
          <a:xfrm flipH="1">
            <a:off x="11095348" y="1668123"/>
            <a:ext cx="192448" cy="1131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Resim 26">
            <a:extLst>
              <a:ext uri="{FF2B5EF4-FFF2-40B4-BE49-F238E27FC236}">
                <a16:creationId xmlns:a16="http://schemas.microsoft.com/office/drawing/2014/main" id="{12171B04-50FC-7376-BD4B-A015842134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46" y="5764179"/>
            <a:ext cx="2381582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2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8" grpId="0" animBg="1"/>
      <p:bldP spid="17" grpId="0"/>
      <p:bldP spid="19" grpId="0" animBg="1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>
            <a:extLst>
              <a:ext uri="{FF2B5EF4-FFF2-40B4-BE49-F238E27FC236}">
                <a16:creationId xmlns:a16="http://schemas.microsoft.com/office/drawing/2014/main" id="{3489E171-38BB-FC6B-E363-60FD7A563FC5}"/>
              </a:ext>
            </a:extLst>
          </p:cNvPr>
          <p:cNvSpPr/>
          <p:nvPr/>
        </p:nvSpPr>
        <p:spPr>
          <a:xfrm>
            <a:off x="-94268" y="313709"/>
            <a:ext cx="4553144" cy="78242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Başlık 1">
            <a:extLst>
              <a:ext uri="{FF2B5EF4-FFF2-40B4-BE49-F238E27FC236}">
                <a16:creationId xmlns:a16="http://schemas.microsoft.com/office/drawing/2014/main" id="{AB5906AD-5683-58A2-D6F4-EA059484DD85}"/>
              </a:ext>
            </a:extLst>
          </p:cNvPr>
          <p:cNvSpPr txBox="1">
            <a:spLocks/>
          </p:cNvSpPr>
          <p:nvPr/>
        </p:nvSpPr>
        <p:spPr>
          <a:xfrm>
            <a:off x="104495" y="226509"/>
            <a:ext cx="4373235" cy="7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NAVİCAT KURULUM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BDC9CAFE-DF63-020C-2015-659F87FA8E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567" y="1473227"/>
            <a:ext cx="6982243" cy="4762422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314475D1-B7FF-1210-72F9-0CE0386989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714" y="101770"/>
            <a:ext cx="6035513" cy="6654459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E6B9FD66-2F8E-8D71-C551-B526804088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792" y="1322111"/>
            <a:ext cx="5563376" cy="401058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5D535873-0029-D346-B707-C949663770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785" y="1442575"/>
            <a:ext cx="5582429" cy="4029637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16AD07AA-B6B3-384C-3CF5-F8F371DAEB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936" y="1550241"/>
            <a:ext cx="5525271" cy="3962953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61D8D2EF-32E0-F738-C10D-3A9486110F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891" y="1642205"/>
            <a:ext cx="5544324" cy="3962953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E454C45E-3000-2105-38F9-D2D51FCFB6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867" y="1715116"/>
            <a:ext cx="5553850" cy="3982006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656DC434-38E8-CF88-D167-715B0F388E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675" y="1826207"/>
            <a:ext cx="5534797" cy="3982006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71C8E73C-C2E1-DE1F-AF75-C1589B2AFFB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384" y="2003063"/>
            <a:ext cx="5515745" cy="3982006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2BDA95AE-630F-469F-6F8E-FA5ACED6AF6A}"/>
              </a:ext>
            </a:extLst>
          </p:cNvPr>
          <p:cNvSpPr txBox="1"/>
          <p:nvPr/>
        </p:nvSpPr>
        <p:spPr>
          <a:xfrm>
            <a:off x="104495" y="1473227"/>
            <a:ext cx="3381054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Navicat.com web adresine gidiniz</a:t>
            </a:r>
          </a:p>
          <a:p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menüsüne tıklayınız</a:t>
            </a:r>
          </a:p>
          <a:p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Navicat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Premium 17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Trail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butonuna tıklayarak indiriniz</a:t>
            </a:r>
          </a:p>
          <a:p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Kurulum Sihirbazını çalıştır – ileri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Lisans sözleşmesi kabul et – ileri 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Kurulum dizinini seçin  - ileri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Ek ayarlar – ileri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Kurulumu başlat –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Kurulum tamamlandı -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finish</a:t>
            </a:r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5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4316853-C2B6-7ED2-FBE5-0355FB422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6185" y="1714500"/>
            <a:ext cx="3932237" cy="3811588"/>
          </a:xfrm>
        </p:spPr>
        <p:txBody>
          <a:bodyPr/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KOMUT : 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C:\xampp\mysql\bin</a:t>
            </a:r>
          </a:p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KOMUT : </a:t>
            </a:r>
          </a:p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-u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-p</a:t>
            </a:r>
          </a:p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KOMUT : 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DATABASES;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B57D0DB-990E-315B-867E-E5C7E30EBF1A}"/>
              </a:ext>
            </a:extLst>
          </p:cNvPr>
          <p:cNvSpPr/>
          <p:nvPr/>
        </p:nvSpPr>
        <p:spPr>
          <a:xfrm>
            <a:off x="-94268" y="313709"/>
            <a:ext cx="4553144" cy="78242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Başlık 1">
            <a:extLst>
              <a:ext uri="{FF2B5EF4-FFF2-40B4-BE49-F238E27FC236}">
                <a16:creationId xmlns:a16="http://schemas.microsoft.com/office/drawing/2014/main" id="{0D02175A-2A0B-3410-AF3B-3299AF3A2AD4}"/>
              </a:ext>
            </a:extLst>
          </p:cNvPr>
          <p:cNvSpPr txBox="1">
            <a:spLocks/>
          </p:cNvSpPr>
          <p:nvPr/>
        </p:nvSpPr>
        <p:spPr>
          <a:xfrm>
            <a:off x="104495" y="226509"/>
            <a:ext cx="4373235" cy="7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 DB ÖRNEK : 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E5F36183-E757-7BCF-8945-1362DC7E7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047" y="1497578"/>
            <a:ext cx="7667768" cy="4245431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75C5EFA4-EAE0-8342-EED8-902F8ED2C9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829" y="1873056"/>
            <a:ext cx="7999502" cy="448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0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6EB20E1-589F-6157-284E-17D1D6C43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6185" y="1523206"/>
            <a:ext cx="3932237" cy="381158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Bağlantılar tıkla</a:t>
            </a:r>
          </a:p>
          <a:p>
            <a:pPr marL="342900" indent="-342900">
              <a:buFont typeface="+mj-lt"/>
              <a:buAutoNum type="arabicPeriod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seç</a:t>
            </a:r>
          </a:p>
          <a:p>
            <a:pPr marL="342900" indent="-342900">
              <a:buFont typeface="+mj-lt"/>
              <a:buAutoNum type="arabicPeriod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bağlantı bilgilerini gir</a:t>
            </a:r>
          </a:p>
          <a:p>
            <a:pPr marL="342900" indent="-342900">
              <a:buFont typeface="+mj-lt"/>
              <a:buAutoNum type="arabicPeriod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Bağlantı başarılı - Tamamlandı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F77B44C1-F468-F0A0-BF2C-195CDB95B608}"/>
              </a:ext>
            </a:extLst>
          </p:cNvPr>
          <p:cNvSpPr/>
          <p:nvPr/>
        </p:nvSpPr>
        <p:spPr>
          <a:xfrm>
            <a:off x="-94268" y="313709"/>
            <a:ext cx="4553144" cy="78242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Başlık 1">
            <a:extLst>
              <a:ext uri="{FF2B5EF4-FFF2-40B4-BE49-F238E27FC236}">
                <a16:creationId xmlns:a16="http://schemas.microsoft.com/office/drawing/2014/main" id="{4DCF0427-371D-7A18-3662-0C721AEF7CA1}"/>
              </a:ext>
            </a:extLst>
          </p:cNvPr>
          <p:cNvSpPr txBox="1">
            <a:spLocks/>
          </p:cNvSpPr>
          <p:nvPr/>
        </p:nvSpPr>
        <p:spPr>
          <a:xfrm>
            <a:off x="104495" y="226509"/>
            <a:ext cx="4373235" cy="7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BAĞLANTI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FA7DFE45-1F3D-5CBA-E71C-1D0F2C27C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025" y="790216"/>
            <a:ext cx="6472552" cy="5125951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3571ED1A-617F-C6FD-091D-98C4AEBD53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172" y="941833"/>
            <a:ext cx="6315405" cy="5106516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E486DC58-5759-DBB7-1BB2-3F75FA5FD4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240" y="313709"/>
            <a:ext cx="5577551" cy="640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43E5EF2-8C80-FF84-7D62-BB74E18DC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4993" y="1689100"/>
            <a:ext cx="3932237" cy="3811588"/>
          </a:xfrm>
        </p:spPr>
        <p:txBody>
          <a:bodyPr/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KOMUT : 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C:\xampp\mysql\bin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KOMUT : </a:t>
            </a:r>
          </a:p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-u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-p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KOMUT : 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DATABASE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cli_dbtest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SET utf8mb4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COLLATE utf8mb4_general_ci;</a:t>
            </a:r>
          </a:p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10B9DD7-D42E-55BD-ACA6-0933C0B69FA3}"/>
              </a:ext>
            </a:extLst>
          </p:cNvPr>
          <p:cNvSpPr/>
          <p:nvPr/>
        </p:nvSpPr>
        <p:spPr>
          <a:xfrm>
            <a:off x="-94268" y="313709"/>
            <a:ext cx="4553144" cy="78242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Başlık 1">
            <a:extLst>
              <a:ext uri="{FF2B5EF4-FFF2-40B4-BE49-F238E27FC236}">
                <a16:creationId xmlns:a16="http://schemas.microsoft.com/office/drawing/2014/main" id="{21E2927D-A265-EB90-92F1-94D3C932AB2F}"/>
              </a:ext>
            </a:extLst>
          </p:cNvPr>
          <p:cNvSpPr txBox="1">
            <a:spLocks/>
          </p:cNvSpPr>
          <p:nvPr/>
        </p:nvSpPr>
        <p:spPr>
          <a:xfrm>
            <a:off x="104495" y="137609"/>
            <a:ext cx="4373235" cy="7659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 DB OLUŞTURMA ÖRNEK</a:t>
            </a:r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D4E5ADB7-C6A3-6498-5B12-E777A2C9A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983" y="1689100"/>
            <a:ext cx="8192017" cy="423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3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43A5F22-28B3-2D83-1617-EE045F8CA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4993" y="1380744"/>
            <a:ext cx="3932237" cy="3811588"/>
          </a:xfrm>
        </p:spPr>
        <p:txBody>
          <a:bodyPr/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Bağlantıya tıklayıp aç. 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Sağ tık yap: “New Database” seçin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Açılan pencerede: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veritabanı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adı (ör.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my_app_db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Collation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utf8mb4 ve utf8mb4_general_ci (Türkçe için önerilir)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 /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ile oluştur.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4AD237BA-22B1-2B5C-CA53-823283D16229}"/>
              </a:ext>
            </a:extLst>
          </p:cNvPr>
          <p:cNvSpPr/>
          <p:nvPr/>
        </p:nvSpPr>
        <p:spPr>
          <a:xfrm>
            <a:off x="-94268" y="313709"/>
            <a:ext cx="4553144" cy="78242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Başlık 1">
            <a:extLst>
              <a:ext uri="{FF2B5EF4-FFF2-40B4-BE49-F238E27FC236}">
                <a16:creationId xmlns:a16="http://schemas.microsoft.com/office/drawing/2014/main" id="{DCD88623-0445-74B0-BEAB-FA28AE597674}"/>
              </a:ext>
            </a:extLst>
          </p:cNvPr>
          <p:cNvSpPr txBox="1">
            <a:spLocks/>
          </p:cNvSpPr>
          <p:nvPr/>
        </p:nvSpPr>
        <p:spPr>
          <a:xfrm>
            <a:off x="104495" y="226509"/>
            <a:ext cx="4553144" cy="7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OLUŞTURMA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30A4708-4922-65F5-73DC-6628F57E2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1375" y="1174071"/>
            <a:ext cx="6415745" cy="5042475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65A3905F-ED0A-D025-5308-E8F661F2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196" y="1575622"/>
            <a:ext cx="5375451" cy="4797826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C7EA8103-B83D-F79B-4E5A-8A9AF7AC41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76" y="1206347"/>
            <a:ext cx="7444706" cy="516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934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486A137-4357-8602-700F-421128702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4993" y="1523206"/>
            <a:ext cx="3932237" cy="3811588"/>
          </a:xfrm>
        </p:spPr>
        <p:txBody>
          <a:bodyPr/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butonuna tıklayınız</a:t>
            </a:r>
          </a:p>
          <a:p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Fields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Tablonuza ekleyeceğiniz Sütun adlarını yazınız ve türlerini bu sekmede yapabilirsiniz</a:t>
            </a:r>
          </a:p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365F96B6-8D80-A2D0-9605-0B2F4F54AA14}"/>
              </a:ext>
            </a:extLst>
          </p:cNvPr>
          <p:cNvSpPr/>
          <p:nvPr/>
        </p:nvSpPr>
        <p:spPr>
          <a:xfrm>
            <a:off x="-94268" y="313709"/>
            <a:ext cx="4553144" cy="78242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Başlık 1">
            <a:extLst>
              <a:ext uri="{FF2B5EF4-FFF2-40B4-BE49-F238E27FC236}">
                <a16:creationId xmlns:a16="http://schemas.microsoft.com/office/drawing/2014/main" id="{0722B2A0-F368-79C9-13FA-9FAEDD6C0E44}"/>
              </a:ext>
            </a:extLst>
          </p:cNvPr>
          <p:cNvSpPr txBox="1">
            <a:spLocks/>
          </p:cNvSpPr>
          <p:nvPr/>
        </p:nvSpPr>
        <p:spPr>
          <a:xfrm>
            <a:off x="104495" y="226509"/>
            <a:ext cx="4373235" cy="7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E3B8C0CE-66A3-544C-2E17-E70E0ED4B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493" y="886068"/>
            <a:ext cx="6980850" cy="4262993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26B1DA46-D28D-25EF-AAFC-9931D49A52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939" y="1096133"/>
            <a:ext cx="7382667" cy="533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89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78B22FC-1909-C592-17F5-C20DFB9F5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6185" y="1523206"/>
            <a:ext cx="3932237" cy="3811588"/>
          </a:xfrm>
        </p:spPr>
        <p:txBody>
          <a:bodyPr/>
          <a:lstStyle/>
          <a:p>
            <a:r>
              <a:rPr lang="tr-TR" b="1" dirty="0"/>
              <a:t>ER Diyagram (</a:t>
            </a:r>
            <a:r>
              <a:rPr lang="tr-TR" b="1" dirty="0" err="1"/>
              <a:t>Entity</a:t>
            </a:r>
            <a:r>
              <a:rPr lang="tr-TR" b="1" dirty="0"/>
              <a:t>–</a:t>
            </a:r>
            <a:r>
              <a:rPr lang="tr-TR" b="1" dirty="0" err="1"/>
              <a:t>Relationship</a:t>
            </a:r>
            <a:r>
              <a:rPr lang="tr-TR" b="1" dirty="0"/>
              <a:t> </a:t>
            </a:r>
            <a:r>
              <a:rPr lang="tr-TR" b="1" dirty="0" err="1"/>
              <a:t>Diagram</a:t>
            </a:r>
            <a:r>
              <a:rPr lang="tr-TR" b="1" dirty="0"/>
              <a:t>)</a:t>
            </a:r>
            <a:r>
              <a:rPr lang="tr-TR" dirty="0"/>
              <a:t>, bir </a:t>
            </a:r>
            <a:r>
              <a:rPr lang="tr-TR" dirty="0" err="1"/>
              <a:t>veritabanının</a:t>
            </a:r>
            <a:r>
              <a:rPr lang="tr-TR" dirty="0"/>
              <a:t> </a:t>
            </a:r>
            <a:r>
              <a:rPr lang="tr-TR" b="1" dirty="0"/>
              <a:t>mantıksal yapısını görsel olarak ifade eden</a:t>
            </a:r>
            <a:r>
              <a:rPr lang="tr-TR" dirty="0"/>
              <a:t> modelleme yöntemidir.</a:t>
            </a:r>
          </a:p>
          <a:p>
            <a:br>
              <a:rPr lang="tr-TR" dirty="0"/>
            </a:br>
            <a:r>
              <a:rPr lang="tr-TR" dirty="0"/>
              <a:t>Amaç; </a:t>
            </a:r>
            <a:r>
              <a:rPr lang="tr-TR" dirty="0" err="1"/>
              <a:t>veritabanı</a:t>
            </a:r>
            <a:r>
              <a:rPr lang="tr-TR" dirty="0"/>
              <a:t> oluşturulmadan önce </a:t>
            </a:r>
            <a:r>
              <a:rPr lang="tr-TR" b="1" dirty="0"/>
              <a:t>tabloların (</a:t>
            </a:r>
            <a:r>
              <a:rPr lang="tr-TR" b="1" dirty="0" err="1"/>
              <a:t>entity</a:t>
            </a:r>
            <a:r>
              <a:rPr lang="tr-TR" b="1" dirty="0"/>
              <a:t>)</a:t>
            </a:r>
            <a:r>
              <a:rPr lang="tr-TR" dirty="0"/>
              <a:t>, bu tabloların </a:t>
            </a:r>
            <a:r>
              <a:rPr lang="tr-TR" b="1" dirty="0"/>
              <a:t>alanlarının (</a:t>
            </a:r>
            <a:r>
              <a:rPr lang="tr-TR" b="1" dirty="0" err="1"/>
              <a:t>attribute</a:t>
            </a:r>
            <a:r>
              <a:rPr lang="tr-TR" b="1" dirty="0"/>
              <a:t>)</a:t>
            </a:r>
            <a:r>
              <a:rPr lang="tr-TR" dirty="0"/>
              <a:t> ve tablolar arasındaki </a:t>
            </a:r>
            <a:r>
              <a:rPr lang="tr-TR" b="1" dirty="0"/>
              <a:t>ilişkilerin (</a:t>
            </a:r>
            <a:r>
              <a:rPr lang="tr-TR" b="1" dirty="0" err="1"/>
              <a:t>relationship</a:t>
            </a:r>
            <a:r>
              <a:rPr lang="tr-TR" b="1" dirty="0"/>
              <a:t>)</a:t>
            </a:r>
            <a:r>
              <a:rPr lang="tr-TR" dirty="0"/>
              <a:t> net bir şekilde tasarlanmasını sağlamaktır.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979DD8B5-7C5B-03FF-29A0-4A50B4A296C3}"/>
              </a:ext>
            </a:extLst>
          </p:cNvPr>
          <p:cNvSpPr/>
          <p:nvPr/>
        </p:nvSpPr>
        <p:spPr>
          <a:xfrm>
            <a:off x="-94268" y="313709"/>
            <a:ext cx="4553144" cy="78242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6" name="Başlık 1">
            <a:extLst>
              <a:ext uri="{FF2B5EF4-FFF2-40B4-BE49-F238E27FC236}">
                <a16:creationId xmlns:a16="http://schemas.microsoft.com/office/drawing/2014/main" id="{82F6537F-3EDD-8C2C-5D2B-3A3733713E57}"/>
              </a:ext>
            </a:extLst>
          </p:cNvPr>
          <p:cNvSpPr txBox="1">
            <a:spLocks/>
          </p:cNvSpPr>
          <p:nvPr/>
        </p:nvSpPr>
        <p:spPr>
          <a:xfrm>
            <a:off x="104495" y="164724"/>
            <a:ext cx="4373235" cy="7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MODELLEME (ER DİYAGRAM)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1E29B001-E380-0CD1-4789-1116A9102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695" y="1487585"/>
            <a:ext cx="7902305" cy="5056706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D03504C7-F8EB-D65E-6CC2-1A2B96307F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422" y="1791729"/>
            <a:ext cx="7945675" cy="427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72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26DB728-4E7A-6CCB-1CC0-86BB24567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4993" y="1523206"/>
            <a:ext cx="3932237" cy="3811588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7CBC67BE-E435-A712-1FB1-22088E972942}"/>
              </a:ext>
            </a:extLst>
          </p:cNvPr>
          <p:cNvSpPr/>
          <p:nvPr/>
        </p:nvSpPr>
        <p:spPr>
          <a:xfrm>
            <a:off x="-94268" y="313709"/>
            <a:ext cx="4553144" cy="78242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Başlık 1">
            <a:extLst>
              <a:ext uri="{FF2B5EF4-FFF2-40B4-BE49-F238E27FC236}">
                <a16:creationId xmlns:a16="http://schemas.microsoft.com/office/drawing/2014/main" id="{B3C7D292-6603-4099-34E8-4A7D415ED03B}"/>
              </a:ext>
            </a:extLst>
          </p:cNvPr>
          <p:cNvSpPr txBox="1">
            <a:spLocks/>
          </p:cNvSpPr>
          <p:nvPr/>
        </p:nvSpPr>
        <p:spPr>
          <a:xfrm>
            <a:off x="104495" y="226509"/>
            <a:ext cx="4373235" cy="7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RAKİPLER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82364FCD-C19A-9E75-4EC3-6DBC6D64A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862" y="1183333"/>
            <a:ext cx="10424276" cy="5488889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BAAE6988-8EB4-7C2D-3E8A-3A112B3F40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699" y="504744"/>
            <a:ext cx="4923162" cy="6167478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A107C541-04E3-3B90-AB97-B26EBD5071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531" y="828840"/>
            <a:ext cx="6144482" cy="4505954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4E5009F3-2F90-FDF7-CD57-A5ABEAE9F2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230" y="1592410"/>
            <a:ext cx="6392167" cy="3829584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1B3EB267-6B1E-C38B-17D9-10F1E2E993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230" y="1696586"/>
            <a:ext cx="5906324" cy="3762900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2E67947C-2835-820A-BA4D-C455293924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828" y="1953797"/>
            <a:ext cx="5620534" cy="3591426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98AB7C8A-FA87-96DE-8627-36A4ADF4BA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478" y="1808887"/>
            <a:ext cx="5801535" cy="3296110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CBE0AC55-C0C1-3B30-06B3-1EE0283146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540" y="123459"/>
            <a:ext cx="6499409" cy="666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19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BA7D45-4AAC-ADEE-2D50-AA35D2A24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425700"/>
            <a:ext cx="6172200" cy="343535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HAZIRLAYAN : İSLAM ERGÜN</a:t>
            </a:r>
          </a:p>
          <a:p>
            <a:pPr marL="0" indent="0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ÖĞRENCİ NO : 25658051</a:t>
            </a:r>
          </a:p>
          <a:p>
            <a:pPr marL="0" indent="0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BÖLÜM/SINIF : </a:t>
            </a:r>
          </a:p>
          <a:p>
            <a:pPr marL="0" indent="0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Bilgisayar Programcılık Bölüm / sınıf 1</a:t>
            </a:r>
          </a:p>
          <a:p>
            <a:pPr marL="0" indent="0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0ED62E8-1125-751F-3A6E-843116419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83188" y="5281612"/>
            <a:ext cx="3932237" cy="3811588"/>
          </a:xfrm>
        </p:spPr>
        <p:txBody>
          <a:bodyPr/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KAYNAKÇA : 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devnanotek.github.io/ders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A6AEA38D-B8A7-D638-AFEC-30C458D7E9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304799"/>
            <a:ext cx="3950213" cy="2468883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79FD6137-6D25-296C-BC21-4D0F79280FB9}"/>
              </a:ext>
            </a:extLst>
          </p:cNvPr>
          <p:cNvSpPr txBox="1"/>
          <p:nvPr/>
        </p:nvSpPr>
        <p:spPr>
          <a:xfrm>
            <a:off x="3925888" y="846435"/>
            <a:ext cx="665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DİNLEDİĞİNİZ İÇİN TEŞEKKÜR EDERİM</a:t>
            </a:r>
          </a:p>
        </p:txBody>
      </p:sp>
    </p:spTree>
    <p:extLst>
      <p:ext uri="{BB962C8B-B14F-4D97-AF65-F5344CB8AC3E}">
        <p14:creationId xmlns:p14="http://schemas.microsoft.com/office/powerpoint/2010/main" val="3838005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1333</TotalTime>
  <Words>2256</Words>
  <Application>Microsoft Office PowerPoint</Application>
  <PresentationFormat>Geniş ekran</PresentationFormat>
  <Paragraphs>418</Paragraphs>
  <Slides>14</Slides>
  <Notes>11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Teması</vt:lpstr>
      <vt:lpstr>PowerPoint Sunusu</vt:lpstr>
      <vt:lpstr>PowerPoint Sunusu</vt:lpstr>
      <vt:lpstr>VERİTABANI NEDİR ?</vt:lpstr>
      <vt:lpstr>CLI (Command Line Interface)</vt:lpstr>
      <vt:lpstr>NAVİCAT NEDİR ?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NANOTEK</dc:creator>
  <cp:lastModifiedBy>NANOTEK</cp:lastModifiedBy>
  <cp:revision>19</cp:revision>
  <dcterms:created xsi:type="dcterms:W3CDTF">2025-12-07T10:47:02Z</dcterms:created>
  <dcterms:modified xsi:type="dcterms:W3CDTF">2025-12-12T09:43:35Z</dcterms:modified>
</cp:coreProperties>
</file>